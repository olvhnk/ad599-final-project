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6858000" cx="9144000"/>
  <p:notesSz cx="6858000" cy="9144000"/>
  <p:embeddedFontLst>
    <p:embeddedFont>
      <p:font typeface="Roboto"/>
      <p:regular r:id="rId22"/>
      <p:bold r:id="rId23"/>
      <p:italic r:id="rId24"/>
      <p:boldItalic r:id="rId25"/>
    </p:embeddedFont>
    <p:embeddedFont>
      <p:font typeface="Merriweather"/>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0" roundtripDataSignature="AMtx7mgV9PceybLZ3Ivsdqdd+tJYqtRQQ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306F7CC-6839-4D14-BB78-D7EF3422B238}">
  <a:tblStyle styleId="{A306F7CC-6839-4D14-BB78-D7EF3422B23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Roboto-regular.fntdata"/><Relationship Id="rId21" Type="http://schemas.openxmlformats.org/officeDocument/2006/relationships/slide" Target="slides/slide15.xml"/><Relationship Id="rId24" Type="http://schemas.openxmlformats.org/officeDocument/2006/relationships/font" Target="fonts/Roboto-italic.fntdata"/><Relationship Id="rId23" Type="http://schemas.openxmlformats.org/officeDocument/2006/relationships/font" Target="fonts/Robot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Merriweather-regular.fntdata"/><Relationship Id="rId25" Type="http://schemas.openxmlformats.org/officeDocument/2006/relationships/font" Target="fonts/Roboto-boldItalic.fntdata"/><Relationship Id="rId28" Type="http://schemas.openxmlformats.org/officeDocument/2006/relationships/font" Target="fonts/Merriweather-italic.fntdata"/><Relationship Id="rId27" Type="http://schemas.openxmlformats.org/officeDocument/2006/relationships/font" Target="fonts/Merriweather-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Merriweather-boldItalic.fntdata"/><Relationship Id="rId7" Type="http://schemas.openxmlformats.org/officeDocument/2006/relationships/slide" Target="slides/slide1.xml"/><Relationship Id="rId8" Type="http://schemas.openxmlformats.org/officeDocument/2006/relationships/slide" Target="slides/slide2.xml"/><Relationship Id="rId30" Type="http://customschemas.google.com/relationships/presentationmetadata" Target="meta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af221e023e_0_4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af221e023e_0_4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af221e023e_0_25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g3af221e023e_0_25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af221e023e_0_25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g3af221e023e_0_25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af221e023e_0_26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af221e023e_0_26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af221e023e_0_15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g3af221e023e_0_158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af221e023e_0_15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g3af221e023e_0_15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af221e023e_0_15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g3af221e023e_0_159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af221e023e_0_26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g3af221e023e_0_26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af221e023e_0_26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g3af221e023e_0_26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af221e023e_0_27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g3af221e023e_0_27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af221e023e_0_27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g3af221e023e_0_27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af221e023e_0_27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g3af221e023e_0_27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af221e023e_0_28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g3af221e023e_0_28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af221e023e_0_28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g3af221e023e_0_28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af221e023e_0_4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af221e023e_0_4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g3af221e023e_0_2467"/>
          <p:cNvSpPr/>
          <p:nvPr/>
        </p:nvSpPr>
        <p:spPr>
          <a:xfrm>
            <a:off x="-125" y="0"/>
            <a:ext cx="9144250" cy="5863987"/>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1" name="Google Shape;11;g3af221e023e_0_2467"/>
          <p:cNvSpPr txBox="1"/>
          <p:nvPr>
            <p:ph type="ctrTitle"/>
          </p:nvPr>
        </p:nvSpPr>
        <p:spPr>
          <a:xfrm>
            <a:off x="311700" y="719633"/>
            <a:ext cx="8520600" cy="17100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2" name="Google Shape;12;g3af221e023e_0_2467"/>
          <p:cNvSpPr txBox="1"/>
          <p:nvPr>
            <p:ph idx="1" type="subTitle"/>
          </p:nvPr>
        </p:nvSpPr>
        <p:spPr>
          <a:xfrm>
            <a:off x="311700" y="2504747"/>
            <a:ext cx="4242600" cy="9843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p:txBody>
      </p:sp>
      <p:sp>
        <p:nvSpPr>
          <p:cNvPr id="13" name="Google Shape;13;g3af221e023e_0_2467"/>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4" name="Shape 14"/>
        <p:cNvGrpSpPr/>
        <p:nvPr/>
      </p:nvGrpSpPr>
      <p:grpSpPr>
        <a:xfrm>
          <a:off x="0" y="0"/>
          <a:ext cx="0" cy="0"/>
          <a:chOff x="0" y="0"/>
          <a:chExt cx="0" cy="0"/>
        </a:xfrm>
      </p:grpSpPr>
      <p:sp>
        <p:nvSpPr>
          <p:cNvPr id="15" name="Google Shape;15;g3af221e023e_0_2472"/>
          <p:cNvSpPr/>
          <p:nvPr/>
        </p:nvSpPr>
        <p:spPr>
          <a:xfrm>
            <a:off x="0" y="64132"/>
            <a:ext cx="9144250" cy="5863987"/>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6" name="Google Shape;16;g3af221e023e_0_2472"/>
          <p:cNvSpPr/>
          <p:nvPr/>
        </p:nvSpPr>
        <p:spPr>
          <a:xfrm>
            <a:off x="0" y="0"/>
            <a:ext cx="9144250" cy="5863987"/>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7" name="Google Shape;17;g3af221e023e_0_2472"/>
          <p:cNvSpPr txBox="1"/>
          <p:nvPr>
            <p:ph type="title"/>
          </p:nvPr>
        </p:nvSpPr>
        <p:spPr>
          <a:xfrm>
            <a:off x="311700" y="719633"/>
            <a:ext cx="8520600" cy="17100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8" name="Google Shape;18;g3af221e023e_0_247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g3af221e023e_0_2477"/>
          <p:cNvSpPr/>
          <p:nvPr/>
        </p:nvSpPr>
        <p:spPr>
          <a:xfrm>
            <a:off x="0" y="0"/>
            <a:ext cx="4314000" cy="6858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g3af221e023e_0_2477"/>
          <p:cNvSpPr/>
          <p:nvPr/>
        </p:nvSpPr>
        <p:spPr>
          <a:xfrm>
            <a:off x="0" y="58833"/>
            <a:ext cx="4313625" cy="5865687"/>
          </a:xfrm>
          <a:custGeom>
            <a:rect b="b" l="l" r="r" t="t"/>
            <a:pathLst>
              <a:path extrusionOk="0" h="175975" w="172545">
                <a:moveTo>
                  <a:pt x="0" y="157"/>
                </a:moveTo>
                <a:lnTo>
                  <a:pt x="172419" y="0"/>
                </a:lnTo>
                <a:lnTo>
                  <a:pt x="172545" y="126541"/>
                </a:lnTo>
                <a:lnTo>
                  <a:pt x="0" y="175975"/>
                </a:lnTo>
                <a:close/>
              </a:path>
            </a:pathLst>
          </a:custGeom>
          <a:solidFill>
            <a:schemeClr val="accent2"/>
          </a:solidFill>
          <a:ln>
            <a:noFill/>
          </a:ln>
        </p:spPr>
      </p:sp>
      <p:sp>
        <p:nvSpPr>
          <p:cNvPr id="22" name="Google Shape;22;g3af221e023e_0_2477"/>
          <p:cNvSpPr/>
          <p:nvPr/>
        </p:nvSpPr>
        <p:spPr>
          <a:xfrm>
            <a:off x="-125" y="0"/>
            <a:ext cx="4316900" cy="5860653"/>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3" name="Google Shape;23;g3af221e023e_0_2477"/>
          <p:cNvSpPr txBox="1"/>
          <p:nvPr>
            <p:ph type="title"/>
          </p:nvPr>
        </p:nvSpPr>
        <p:spPr>
          <a:xfrm>
            <a:off x="311725" y="667900"/>
            <a:ext cx="3706500" cy="33453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4" name="Google Shape;24;g3af221e023e_0_2477"/>
          <p:cNvSpPr txBox="1"/>
          <p:nvPr>
            <p:ph idx="1" type="body"/>
          </p:nvPr>
        </p:nvSpPr>
        <p:spPr>
          <a:xfrm>
            <a:off x="4644675" y="667900"/>
            <a:ext cx="4166400" cy="5464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5" name="Google Shape;25;g3af221e023e_0_2477"/>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g3af221e023e_0_2484"/>
          <p:cNvSpPr/>
          <p:nvPr/>
        </p:nvSpPr>
        <p:spPr>
          <a:xfrm>
            <a:off x="0" y="0"/>
            <a:ext cx="9144000" cy="1702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g3af221e023e_0_2484"/>
          <p:cNvSpPr txBox="1"/>
          <p:nvPr>
            <p:ph type="title"/>
          </p:nvPr>
        </p:nvSpPr>
        <p:spPr>
          <a:xfrm>
            <a:off x="311725" y="667900"/>
            <a:ext cx="8520600" cy="831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9" name="Google Shape;29;g3af221e023e_0_2484"/>
          <p:cNvSpPr txBox="1"/>
          <p:nvPr>
            <p:ph idx="1" type="body"/>
          </p:nvPr>
        </p:nvSpPr>
        <p:spPr>
          <a:xfrm>
            <a:off x="311700" y="2007600"/>
            <a:ext cx="3999900" cy="410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g3af221e023e_0_2484"/>
          <p:cNvSpPr txBox="1"/>
          <p:nvPr>
            <p:ph idx="2" type="body"/>
          </p:nvPr>
        </p:nvSpPr>
        <p:spPr>
          <a:xfrm>
            <a:off x="4832400" y="2007600"/>
            <a:ext cx="3999900" cy="410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1" name="Google Shape;31;g3af221e023e_0_2484"/>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g3af221e023e_0_2490"/>
          <p:cNvSpPr/>
          <p:nvPr/>
        </p:nvSpPr>
        <p:spPr>
          <a:xfrm>
            <a:off x="0" y="0"/>
            <a:ext cx="9144000" cy="1702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g3af221e023e_0_2490"/>
          <p:cNvSpPr txBox="1"/>
          <p:nvPr>
            <p:ph type="title"/>
          </p:nvPr>
        </p:nvSpPr>
        <p:spPr>
          <a:xfrm>
            <a:off x="311725" y="667900"/>
            <a:ext cx="8520600" cy="831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5" name="Google Shape;35;g3af221e023e_0_2490"/>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g3af221e023e_0_2494"/>
          <p:cNvSpPr/>
          <p:nvPr/>
        </p:nvSpPr>
        <p:spPr>
          <a:xfrm>
            <a:off x="0" y="0"/>
            <a:ext cx="3764400" cy="6858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g3af221e023e_0_2494"/>
          <p:cNvSpPr txBox="1"/>
          <p:nvPr>
            <p:ph type="title"/>
          </p:nvPr>
        </p:nvSpPr>
        <p:spPr>
          <a:xfrm>
            <a:off x="311725" y="667900"/>
            <a:ext cx="3127500" cy="2438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9" name="Google Shape;39;g3af221e023e_0_2494"/>
          <p:cNvSpPr txBox="1"/>
          <p:nvPr>
            <p:ph idx="1" type="body"/>
          </p:nvPr>
        </p:nvSpPr>
        <p:spPr>
          <a:xfrm>
            <a:off x="311700" y="3187533"/>
            <a:ext cx="3127500" cy="3063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40" name="Google Shape;40;g3af221e023e_0_2494"/>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41" name="Shape 41"/>
        <p:cNvGrpSpPr/>
        <p:nvPr/>
      </p:nvGrpSpPr>
      <p:grpSpPr>
        <a:xfrm>
          <a:off x="0" y="0"/>
          <a:ext cx="0" cy="0"/>
          <a:chOff x="0" y="0"/>
          <a:chExt cx="0" cy="0"/>
        </a:xfrm>
      </p:grpSpPr>
      <p:sp>
        <p:nvSpPr>
          <p:cNvPr id="42" name="Google Shape;42;g3af221e023e_0_2499"/>
          <p:cNvSpPr txBox="1"/>
          <p:nvPr>
            <p:ph type="title"/>
          </p:nvPr>
        </p:nvSpPr>
        <p:spPr>
          <a:xfrm>
            <a:off x="311675" y="1064800"/>
            <a:ext cx="6247800" cy="4728300"/>
          </a:xfrm>
          <a:prstGeom prst="rect">
            <a:avLst/>
          </a:prstGeom>
        </p:spPr>
        <p:txBody>
          <a:bodyPr anchorCtr="0" anchor="ctr"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43" name="Google Shape;43;g3af221e023e_0_2499"/>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4" name="Shape 44"/>
        <p:cNvGrpSpPr/>
        <p:nvPr/>
      </p:nvGrpSpPr>
      <p:grpSpPr>
        <a:xfrm>
          <a:off x="0" y="0"/>
          <a:ext cx="0" cy="0"/>
          <a:chOff x="0" y="0"/>
          <a:chExt cx="0" cy="0"/>
        </a:xfrm>
      </p:grpSpPr>
      <p:sp>
        <p:nvSpPr>
          <p:cNvPr id="45" name="Google Shape;45;g3af221e023e_0_2502"/>
          <p:cNvSpPr/>
          <p:nvPr/>
        </p:nvSpPr>
        <p:spPr>
          <a:xfrm>
            <a:off x="0" y="0"/>
            <a:ext cx="4572000" cy="6858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g3af221e023e_0_2502"/>
          <p:cNvSpPr txBox="1"/>
          <p:nvPr>
            <p:ph type="title"/>
          </p:nvPr>
        </p:nvSpPr>
        <p:spPr>
          <a:xfrm>
            <a:off x="311300" y="667900"/>
            <a:ext cx="3704400" cy="2732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47" name="Google Shape;47;g3af221e023e_0_2502"/>
          <p:cNvSpPr txBox="1"/>
          <p:nvPr>
            <p:ph idx="1" type="subTitle"/>
          </p:nvPr>
        </p:nvSpPr>
        <p:spPr>
          <a:xfrm>
            <a:off x="304800" y="3502300"/>
            <a:ext cx="3704400" cy="12357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p:txBody>
      </p:sp>
      <p:sp>
        <p:nvSpPr>
          <p:cNvPr id="48" name="Google Shape;48;g3af221e023e_0_2502"/>
          <p:cNvSpPr txBox="1"/>
          <p:nvPr>
            <p:ph idx="2" type="body"/>
          </p:nvPr>
        </p:nvSpPr>
        <p:spPr>
          <a:xfrm>
            <a:off x="4879025" y="667900"/>
            <a:ext cx="3954000" cy="5481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9" name="Google Shape;49;g3af221e023e_0_250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0" name="Shape 50"/>
        <p:cNvGrpSpPr/>
        <p:nvPr/>
      </p:nvGrpSpPr>
      <p:grpSpPr>
        <a:xfrm>
          <a:off x="0" y="0"/>
          <a:ext cx="0" cy="0"/>
          <a:chOff x="0" y="0"/>
          <a:chExt cx="0" cy="0"/>
        </a:xfrm>
      </p:grpSpPr>
      <p:sp>
        <p:nvSpPr>
          <p:cNvPr id="51" name="Google Shape;51;g3af221e023e_0_2508"/>
          <p:cNvSpPr/>
          <p:nvPr/>
        </p:nvSpPr>
        <p:spPr>
          <a:xfrm>
            <a:off x="0" y="5825333"/>
            <a:ext cx="9144000" cy="1032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g3af221e023e_0_2508"/>
          <p:cNvSpPr txBox="1"/>
          <p:nvPr>
            <p:ph idx="1" type="body"/>
          </p:nvPr>
        </p:nvSpPr>
        <p:spPr>
          <a:xfrm>
            <a:off x="311700" y="6028533"/>
            <a:ext cx="7979400" cy="614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53" name="Google Shape;53;g3af221e023e_0_2508"/>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54" name="Shape 54"/>
        <p:cNvGrpSpPr/>
        <p:nvPr/>
      </p:nvGrpSpPr>
      <p:grpSpPr>
        <a:xfrm>
          <a:off x="0" y="0"/>
          <a:ext cx="0" cy="0"/>
          <a:chOff x="0" y="0"/>
          <a:chExt cx="0" cy="0"/>
        </a:xfrm>
      </p:grpSpPr>
      <p:sp>
        <p:nvSpPr>
          <p:cNvPr id="55" name="Google Shape;55;g3af221e023e_0_2512"/>
          <p:cNvSpPr txBox="1"/>
          <p:nvPr>
            <p:ph hasCustomPrompt="1" type="title"/>
          </p:nvPr>
        </p:nvSpPr>
        <p:spPr>
          <a:xfrm>
            <a:off x="311750" y="1108233"/>
            <a:ext cx="5334900" cy="16596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56" name="Google Shape;56;g3af221e023e_0_2512"/>
          <p:cNvSpPr txBox="1"/>
          <p:nvPr>
            <p:ph idx="1" type="body"/>
          </p:nvPr>
        </p:nvSpPr>
        <p:spPr>
          <a:xfrm>
            <a:off x="311700" y="2828567"/>
            <a:ext cx="5334900" cy="12567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57" name="Google Shape;57;g3af221e023e_0_251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g3af221e023e_0_2516"/>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0" name="Shape 60"/>
        <p:cNvGrpSpPr/>
        <p:nvPr/>
      </p:nvGrpSpPr>
      <p:grpSpPr>
        <a:xfrm>
          <a:off x="0" y="0"/>
          <a:ext cx="0" cy="0"/>
          <a:chOff x="0" y="0"/>
          <a:chExt cx="0" cy="0"/>
        </a:xfrm>
      </p:grpSpPr>
      <p:sp>
        <p:nvSpPr>
          <p:cNvPr id="61" name="Google Shape;61;g3af221e023e_0_25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2" name="Google Shape;62;g3af221e023e_0_2518"/>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1200"/>
              </a:spcBef>
              <a:spcAft>
                <a:spcPts val="0"/>
              </a:spcAft>
              <a:buClr>
                <a:schemeClr val="dk1"/>
              </a:buClr>
              <a:buSzPts val="1800"/>
              <a:buChar char="○"/>
              <a:defRPr/>
            </a:lvl2pPr>
            <a:lvl3pPr indent="-342900" lvl="2" marL="1371600" algn="l">
              <a:spcBef>
                <a:spcPts val="1200"/>
              </a:spcBef>
              <a:spcAft>
                <a:spcPts val="0"/>
              </a:spcAft>
              <a:buClr>
                <a:schemeClr val="dk1"/>
              </a:buClr>
              <a:buSzPts val="1800"/>
              <a:buChar char="■"/>
              <a:defRPr/>
            </a:lvl3pPr>
            <a:lvl4pPr indent="-342900" lvl="3" marL="1828800" algn="l">
              <a:spcBef>
                <a:spcPts val="1200"/>
              </a:spcBef>
              <a:spcAft>
                <a:spcPts val="0"/>
              </a:spcAft>
              <a:buClr>
                <a:schemeClr val="dk1"/>
              </a:buClr>
              <a:buSzPts val="1800"/>
              <a:buChar char="●"/>
              <a:defRPr/>
            </a:lvl4pPr>
            <a:lvl5pPr indent="-342900" lvl="4" marL="2286000" algn="l">
              <a:spcBef>
                <a:spcPts val="1200"/>
              </a:spcBef>
              <a:spcAft>
                <a:spcPts val="0"/>
              </a:spcAft>
              <a:buClr>
                <a:schemeClr val="dk1"/>
              </a:buClr>
              <a:buSzPts val="1800"/>
              <a:buChar char="○"/>
              <a:defRPr/>
            </a:lvl5pPr>
            <a:lvl6pPr indent="-342900" lvl="5" marL="2743200" algn="l">
              <a:spcBef>
                <a:spcPts val="1200"/>
              </a:spcBef>
              <a:spcAft>
                <a:spcPts val="0"/>
              </a:spcAft>
              <a:buClr>
                <a:schemeClr val="dk1"/>
              </a:buClr>
              <a:buSzPts val="1800"/>
              <a:buChar char="■"/>
              <a:defRPr/>
            </a:lvl6pPr>
            <a:lvl7pPr indent="-342900" lvl="6" marL="3200400" algn="l">
              <a:spcBef>
                <a:spcPts val="1200"/>
              </a:spcBef>
              <a:spcAft>
                <a:spcPts val="0"/>
              </a:spcAft>
              <a:buClr>
                <a:schemeClr val="dk1"/>
              </a:buClr>
              <a:buSzPts val="1800"/>
              <a:buChar char="●"/>
              <a:defRPr/>
            </a:lvl7pPr>
            <a:lvl8pPr indent="-342900" lvl="7" marL="3657600" algn="l">
              <a:spcBef>
                <a:spcPts val="1200"/>
              </a:spcBef>
              <a:spcAft>
                <a:spcPts val="0"/>
              </a:spcAft>
              <a:buClr>
                <a:schemeClr val="dk1"/>
              </a:buClr>
              <a:buSzPts val="1800"/>
              <a:buChar char="○"/>
              <a:defRPr/>
            </a:lvl8pPr>
            <a:lvl9pPr indent="-342900" lvl="8" marL="4114800" algn="l">
              <a:spcBef>
                <a:spcPts val="1200"/>
              </a:spcBef>
              <a:spcAft>
                <a:spcPts val="1200"/>
              </a:spcAft>
              <a:buClr>
                <a:schemeClr val="dk1"/>
              </a:buClr>
              <a:buSzPts val="1800"/>
              <a:buChar char="■"/>
              <a:defRPr/>
            </a:lvl9pPr>
          </a:lstStyle>
          <a:p/>
        </p:txBody>
      </p:sp>
      <p:sp>
        <p:nvSpPr>
          <p:cNvPr id="63" name="Google Shape;63;g3af221e023e_0_2518"/>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g3af221e023e_0_2518"/>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g3af221e023e_0_2518"/>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5" name="Shape 5"/>
        <p:cNvGrpSpPr/>
        <p:nvPr/>
      </p:nvGrpSpPr>
      <p:grpSpPr>
        <a:xfrm>
          <a:off x="0" y="0"/>
          <a:ext cx="0" cy="0"/>
          <a:chOff x="0" y="0"/>
          <a:chExt cx="0" cy="0"/>
        </a:xfrm>
      </p:grpSpPr>
      <p:sp>
        <p:nvSpPr>
          <p:cNvPr id="6" name="Google Shape;6;g3af221e023e_0_2463"/>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7" name="Google Shape;7;g3af221e023e_0_2463"/>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8" name="Google Shape;8;g3af221e023e_0_2463"/>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mc:Choice Requires="p14">
      <p:transition spd="slow" p14:dur="1200">
        <p:push/>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7.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hyperlink" Target="mailto:ohancock@bu.edu" TargetMode="External"/><Relationship Id="rId4"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g3af221e023e_0_467"/>
          <p:cNvSpPr txBox="1"/>
          <p:nvPr>
            <p:ph type="ctrTitle"/>
          </p:nvPr>
        </p:nvSpPr>
        <p:spPr>
          <a:xfrm>
            <a:off x="329400" y="319750"/>
            <a:ext cx="6033300" cy="276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4800"/>
              <a:t>MET AD 599:</a:t>
            </a:r>
            <a:br>
              <a:rPr b="1" lang="en-US" sz="4800"/>
            </a:br>
            <a:r>
              <a:rPr b="1" lang="en-US" sz="4800"/>
              <a:t>Python &amp; SQL for Business Analytics</a:t>
            </a:r>
            <a:endParaRPr b="1" sz="4800"/>
          </a:p>
        </p:txBody>
      </p:sp>
      <p:sp>
        <p:nvSpPr>
          <p:cNvPr id="71" name="Google Shape;71;g3af221e023e_0_467"/>
          <p:cNvSpPr txBox="1"/>
          <p:nvPr>
            <p:ph idx="1" type="subTitle"/>
          </p:nvPr>
        </p:nvSpPr>
        <p:spPr>
          <a:xfrm>
            <a:off x="329400" y="3428997"/>
            <a:ext cx="4242600" cy="984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i="1" lang="en-US" sz="3600">
                <a:latin typeface="Merriweather"/>
                <a:ea typeface="Merriweather"/>
                <a:cs typeface="Merriweather"/>
                <a:sym typeface="Merriweather"/>
              </a:rPr>
              <a:t>Oliver Hancock</a:t>
            </a:r>
            <a:endParaRPr i="1" sz="3600">
              <a:latin typeface="Merriweather"/>
              <a:ea typeface="Merriweather"/>
              <a:cs typeface="Merriweather"/>
              <a:sym typeface="Merriweather"/>
            </a:endParaRPr>
          </a:p>
        </p:txBody>
      </p:sp>
      <p:pic>
        <p:nvPicPr>
          <p:cNvPr descr="Dashboard infographic. Screen with charts and diagrams. Diagram template and chart graph statistic.Chart graph elements for data analytics and statistics. UI, UX, KIT elements. (Provided by Getty Images)" id="72" name="Google Shape;72;g3af221e023e_0_467"/>
          <p:cNvPicPr preferRelativeResize="0"/>
          <p:nvPr/>
        </p:nvPicPr>
        <p:blipFill>
          <a:blip r:embed="rId3">
            <a:alphaModFix/>
          </a:blip>
          <a:stretch>
            <a:fillRect/>
          </a:stretch>
        </p:blipFill>
        <p:spPr>
          <a:xfrm>
            <a:off x="4295256" y="4819675"/>
            <a:ext cx="4731121" cy="186195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g3af221e023e_0_2530"/>
          <p:cNvSpPr txBox="1"/>
          <p:nvPr>
            <p:ph type="title"/>
          </p:nvPr>
        </p:nvSpPr>
        <p:spPr>
          <a:xfrm>
            <a:off x="311725" y="667900"/>
            <a:ext cx="8520600" cy="831600"/>
          </a:xfrm>
          <a:prstGeom prst="rect">
            <a:avLst/>
          </a:pr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400"/>
              <a:buFont typeface="Calibri"/>
              <a:buNone/>
            </a:pPr>
            <a:r>
              <a:rPr b="1" lang="en-US" sz="5100"/>
              <a:t>Project Overview</a:t>
            </a:r>
            <a:endParaRPr b="1" sz="3500"/>
          </a:p>
        </p:txBody>
      </p:sp>
      <p:sp>
        <p:nvSpPr>
          <p:cNvPr id="78" name="Google Shape;78;g3af221e023e_0_2530"/>
          <p:cNvSpPr txBox="1"/>
          <p:nvPr>
            <p:ph idx="4294967295" type="body"/>
          </p:nvPr>
        </p:nvSpPr>
        <p:spPr>
          <a:xfrm>
            <a:off x="457200" y="2062275"/>
            <a:ext cx="8229600" cy="4064100"/>
          </a:xfrm>
          <a:prstGeom prst="rect">
            <a:avLst/>
          </a:prstGeom>
          <a:noFill/>
          <a:ln>
            <a:noFill/>
          </a:ln>
        </p:spPr>
        <p:txBody>
          <a:bodyPr anchorCtr="0" anchor="t" bIns="45700" lIns="91425" spcFirstLastPara="1" rIns="91425" wrap="square" tIns="45700">
            <a:normAutofit lnSpcReduction="20000"/>
          </a:bodyPr>
          <a:lstStyle/>
          <a:p>
            <a:pPr indent="-342900" lvl="0" marL="342900" rtl="0" algn="l">
              <a:spcBef>
                <a:spcPts val="0"/>
              </a:spcBef>
              <a:spcAft>
                <a:spcPts val="0"/>
              </a:spcAft>
              <a:buClr>
                <a:schemeClr val="dk1"/>
              </a:buClr>
              <a:buSzPts val="3200"/>
              <a:buChar char="●"/>
            </a:pPr>
            <a:r>
              <a:rPr lang="en-US" sz="3200">
                <a:solidFill>
                  <a:schemeClr val="dk1"/>
                </a:solidFill>
                <a:latin typeface="Calibri"/>
                <a:ea typeface="Calibri"/>
                <a:cs typeface="Calibri"/>
                <a:sym typeface="Calibri"/>
              </a:rPr>
              <a:t>Analyze an LMS database using SQL and Python.</a:t>
            </a:r>
            <a:endParaRPr/>
          </a:p>
          <a:p>
            <a:pPr indent="-342900" lvl="0" marL="342900" rtl="0" algn="l">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Build a machine learning model to identify at-risk students.</a:t>
            </a:r>
            <a:endParaRPr/>
          </a:p>
          <a:p>
            <a:pPr indent="-342900" lvl="0" marL="342900" rtl="0" algn="l">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Create visualizations to interpret performance and engagement trends.</a:t>
            </a:r>
            <a:endParaRPr/>
          </a:p>
          <a:p>
            <a:pPr indent="-342900" lvl="0" marL="342900" rtl="0" algn="l">
              <a:spcBef>
                <a:spcPts val="640"/>
              </a:spcBef>
              <a:spcAft>
                <a:spcPts val="1200"/>
              </a:spcAft>
              <a:buClr>
                <a:schemeClr val="dk1"/>
              </a:buClr>
              <a:buSzPts val="3200"/>
              <a:buChar char="●"/>
            </a:pPr>
            <a:r>
              <a:rPr lang="en-US" sz="3200">
                <a:solidFill>
                  <a:schemeClr val="dk1"/>
                </a:solidFill>
                <a:latin typeface="Calibri"/>
                <a:ea typeface="Calibri"/>
                <a:cs typeface="Calibri"/>
                <a:sym typeface="Calibri"/>
              </a:rPr>
              <a:t>Produce recommendations and a summary dashboard for academic insight.</a:t>
            </a:r>
            <a:endParaRPr/>
          </a:p>
        </p:txBody>
      </p:sp>
      <p:pic>
        <p:nvPicPr>
          <p:cNvPr descr="Notebook with pencil thin line icon. Notepad with drawn project vector illustration isolated on white. Sketchbook with gear outline style design, designed for web and app. Eps 10. (Provided by Getty Images)" id="79" name="Google Shape;79;g3af221e023e_0_2530"/>
          <p:cNvPicPr preferRelativeResize="0"/>
          <p:nvPr/>
        </p:nvPicPr>
        <p:blipFill>
          <a:blip r:embed="rId3">
            <a:alphaModFix/>
          </a:blip>
          <a:stretch>
            <a:fillRect/>
          </a:stretch>
        </p:blipFill>
        <p:spPr>
          <a:xfrm>
            <a:off x="205876" y="170700"/>
            <a:ext cx="1385723" cy="132879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g3af221e023e_0_2535"/>
          <p:cNvSpPr txBox="1"/>
          <p:nvPr>
            <p:ph type="title"/>
          </p:nvPr>
        </p:nvSpPr>
        <p:spPr>
          <a:xfrm>
            <a:off x="311725" y="667900"/>
            <a:ext cx="8520600" cy="8316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sz="4400"/>
              <a:t>What is the business domain?</a:t>
            </a:r>
            <a:endParaRPr b="1"/>
          </a:p>
        </p:txBody>
      </p:sp>
      <p:sp>
        <p:nvSpPr>
          <p:cNvPr id="85" name="Google Shape;85;g3af221e023e_0_2535"/>
          <p:cNvSpPr txBox="1"/>
          <p:nvPr>
            <p:ph idx="4294967295" type="body"/>
          </p:nvPr>
        </p:nvSpPr>
        <p:spPr>
          <a:xfrm>
            <a:off x="311700" y="2007600"/>
            <a:ext cx="7991400" cy="4101600"/>
          </a:xfrm>
          <a:prstGeom prst="rect">
            <a:avLst/>
          </a:prstGeom>
          <a:noFill/>
          <a:ln>
            <a:noFill/>
          </a:ln>
        </p:spPr>
        <p:txBody>
          <a:bodyPr anchorCtr="0" anchor="t" bIns="45700" lIns="91425" spcFirstLastPara="1" rIns="91425" wrap="square" tIns="45700">
            <a:normAutofit fontScale="92500" lnSpcReduction="20000"/>
          </a:bodyPr>
          <a:lstStyle/>
          <a:p>
            <a:pPr indent="-327660" lvl="0" marL="342900" rtl="0" algn="l">
              <a:spcBef>
                <a:spcPts val="0"/>
              </a:spcBef>
              <a:spcAft>
                <a:spcPts val="0"/>
              </a:spcAft>
              <a:buClr>
                <a:schemeClr val="dk1"/>
              </a:buClr>
              <a:buSzPct val="100000"/>
              <a:buFont typeface="Merriweather"/>
              <a:buChar char="●"/>
            </a:pPr>
            <a:r>
              <a:rPr lang="en-US" sz="3200">
                <a:solidFill>
                  <a:schemeClr val="dk1"/>
                </a:solidFill>
                <a:latin typeface="Merriweather"/>
                <a:ea typeface="Merriweather"/>
                <a:cs typeface="Merriweather"/>
                <a:sym typeface="Merriweather"/>
              </a:rPr>
              <a:t>L</a:t>
            </a:r>
            <a:r>
              <a:rPr lang="en-US" sz="3200">
                <a:solidFill>
                  <a:schemeClr val="dk1"/>
                </a:solidFill>
                <a:latin typeface="Merriweather"/>
                <a:ea typeface="Merriweather"/>
                <a:cs typeface="Merriweather"/>
                <a:sym typeface="Merriweather"/>
              </a:rPr>
              <a:t>MS.db represents a university learning management system.</a:t>
            </a:r>
            <a:endParaRPr>
              <a:latin typeface="Merriweather"/>
              <a:ea typeface="Merriweather"/>
              <a:cs typeface="Merriweather"/>
              <a:sym typeface="Merriweather"/>
            </a:endParaRPr>
          </a:p>
          <a:p>
            <a:pPr indent="-327660" lvl="0" marL="342900" rtl="0" algn="l">
              <a:spcBef>
                <a:spcPts val="640"/>
              </a:spcBef>
              <a:spcAft>
                <a:spcPts val="0"/>
              </a:spcAft>
              <a:buClr>
                <a:schemeClr val="dk1"/>
              </a:buClr>
              <a:buSzPct val="100000"/>
              <a:buFont typeface="Merriweather"/>
              <a:buChar char="●"/>
            </a:pPr>
            <a:r>
              <a:rPr lang="en-US" sz="3200">
                <a:solidFill>
                  <a:schemeClr val="dk1"/>
                </a:solidFill>
                <a:latin typeface="Merriweather"/>
                <a:ea typeface="Merriweather"/>
                <a:cs typeface="Merriweather"/>
                <a:sym typeface="Merriweather"/>
              </a:rPr>
              <a:t>Includes students, instructors, courses, assignments, quizzes, and submissions.</a:t>
            </a:r>
            <a:endParaRPr>
              <a:latin typeface="Merriweather"/>
              <a:ea typeface="Merriweather"/>
              <a:cs typeface="Merriweather"/>
              <a:sym typeface="Merriweather"/>
            </a:endParaRPr>
          </a:p>
          <a:p>
            <a:pPr indent="-327660" lvl="0" marL="342900" rtl="0" algn="l">
              <a:spcBef>
                <a:spcPts val="640"/>
              </a:spcBef>
              <a:spcAft>
                <a:spcPts val="0"/>
              </a:spcAft>
              <a:buClr>
                <a:schemeClr val="dk1"/>
              </a:buClr>
              <a:buSzPct val="100000"/>
              <a:buFont typeface="Merriweather"/>
              <a:buChar char="●"/>
            </a:pPr>
            <a:r>
              <a:rPr lang="en-US" sz="3200">
                <a:solidFill>
                  <a:schemeClr val="dk1"/>
                </a:solidFill>
                <a:latin typeface="Merriweather"/>
                <a:ea typeface="Merriweather"/>
                <a:cs typeface="Merriweather"/>
                <a:sym typeface="Merriweather"/>
              </a:rPr>
              <a:t>Enables tracking of performance, engagement, and academic progress.</a:t>
            </a:r>
            <a:endParaRPr>
              <a:latin typeface="Merriweather"/>
              <a:ea typeface="Merriweather"/>
              <a:cs typeface="Merriweather"/>
              <a:sym typeface="Merriweather"/>
            </a:endParaRPr>
          </a:p>
          <a:p>
            <a:pPr indent="-327660" lvl="0" marL="342900" rtl="0" algn="l">
              <a:spcBef>
                <a:spcPts val="640"/>
              </a:spcBef>
              <a:spcAft>
                <a:spcPts val="1200"/>
              </a:spcAft>
              <a:buClr>
                <a:schemeClr val="dk1"/>
              </a:buClr>
              <a:buSzPct val="100000"/>
              <a:buFont typeface="Merriweather"/>
              <a:buChar char="●"/>
            </a:pPr>
            <a:r>
              <a:rPr lang="en-US" sz="3200">
                <a:solidFill>
                  <a:schemeClr val="dk1"/>
                </a:solidFill>
                <a:latin typeface="Merriweather"/>
                <a:ea typeface="Merriweather"/>
                <a:cs typeface="Merriweather"/>
                <a:sym typeface="Merriweather"/>
              </a:rPr>
              <a:t>Supports analytics on trends, risk signals, and instructional effectiveness.</a:t>
            </a:r>
            <a:endParaRPr>
              <a:latin typeface="Merriweather"/>
              <a:ea typeface="Merriweather"/>
              <a:cs typeface="Merriweather"/>
              <a:sym typeface="Merriweath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g3af221e023e_0_2616"/>
          <p:cNvSpPr txBox="1"/>
          <p:nvPr>
            <p:ph type="title"/>
          </p:nvPr>
        </p:nvSpPr>
        <p:spPr>
          <a:xfrm>
            <a:off x="311725" y="667900"/>
            <a:ext cx="8520600" cy="831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US" sz="2900"/>
              <a:t>Entity-Relationship Diagram (ERD): lms.db</a:t>
            </a:r>
            <a:endParaRPr b="1" sz="2900"/>
          </a:p>
        </p:txBody>
      </p:sp>
      <p:pic>
        <p:nvPicPr>
          <p:cNvPr id="91" name="Google Shape;91;g3af221e023e_0_2616"/>
          <p:cNvPicPr preferRelativeResize="0"/>
          <p:nvPr/>
        </p:nvPicPr>
        <p:blipFill>
          <a:blip r:embed="rId3">
            <a:alphaModFix/>
          </a:blip>
          <a:stretch>
            <a:fillRect/>
          </a:stretch>
        </p:blipFill>
        <p:spPr>
          <a:xfrm>
            <a:off x="735075" y="1844527"/>
            <a:ext cx="7803226" cy="48375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g3af221e023e_0_1584"/>
          <p:cNvSpPr txBox="1"/>
          <p:nvPr>
            <p:ph type="title"/>
          </p:nvPr>
        </p:nvSpPr>
        <p:spPr>
          <a:xfrm>
            <a:off x="311725" y="2283525"/>
            <a:ext cx="3706500" cy="17295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0000"/>
              </a:buClr>
              <a:buSzPct val="100000"/>
              <a:buFont typeface="Calibri"/>
              <a:buNone/>
            </a:pPr>
            <a:r>
              <a:rPr b="1" i="1" lang="en-US" sz="4400"/>
              <a:t>What are the most active courses?</a:t>
            </a:r>
            <a:endParaRPr b="1" i="1" sz="4400"/>
          </a:p>
          <a:p>
            <a:pPr indent="0" lvl="0" marL="0" rtl="0" algn="ctr">
              <a:spcBef>
                <a:spcPts val="0"/>
              </a:spcBef>
              <a:spcAft>
                <a:spcPts val="0"/>
              </a:spcAft>
              <a:buClr>
                <a:schemeClr val="dk1"/>
              </a:buClr>
              <a:buSzPct val="100000"/>
              <a:buFont typeface="Calibri"/>
              <a:buNone/>
            </a:pPr>
            <a:r>
              <a:rPr lang="en-US" sz="4400">
                <a:solidFill>
                  <a:schemeClr val="dk1"/>
                </a:solidFill>
                <a:latin typeface="Calibri"/>
                <a:ea typeface="Calibri"/>
                <a:cs typeface="Calibri"/>
                <a:sym typeface="Calibri"/>
              </a:rPr>
              <a:t>Most Active Courses</a:t>
            </a:r>
            <a:endParaRPr/>
          </a:p>
        </p:txBody>
      </p:sp>
      <p:sp>
        <p:nvSpPr>
          <p:cNvPr id="97" name="Google Shape;97;g3af221e023e_0_1584"/>
          <p:cNvSpPr txBox="1"/>
          <p:nvPr>
            <p:ph idx="1" type="body"/>
          </p:nvPr>
        </p:nvSpPr>
        <p:spPr>
          <a:xfrm>
            <a:off x="4644675" y="667900"/>
            <a:ext cx="4166400" cy="546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2800">
                <a:solidFill>
                  <a:schemeClr val="dk1"/>
                </a:solidFill>
                <a:latin typeface="Merriweather"/>
                <a:ea typeface="Merriweather"/>
                <a:cs typeface="Merriweather"/>
                <a:sym typeface="Merriweather"/>
              </a:rPr>
              <a:t>Insight: Courses with higher assessment volume create more frequent engagement points and may require pacing adjustments.</a:t>
            </a:r>
            <a:endParaRPr sz="900">
              <a:latin typeface="Merriweather"/>
              <a:ea typeface="Merriweather"/>
              <a:cs typeface="Merriweather"/>
              <a:sym typeface="Merriweather"/>
            </a:endParaRPr>
          </a:p>
          <a:p>
            <a:pPr indent="-139700" lvl="0" marL="342900" rtl="0" algn="l">
              <a:spcBef>
                <a:spcPts val="640"/>
              </a:spcBef>
              <a:spcAft>
                <a:spcPts val="0"/>
              </a:spcAft>
              <a:buClr>
                <a:schemeClr val="dk1"/>
              </a:buClr>
              <a:buSzPts val="3200"/>
              <a:buNone/>
            </a:pPr>
            <a:r>
              <a:t/>
            </a:r>
            <a:endParaRPr sz="3200">
              <a:solidFill>
                <a:schemeClr val="dk1"/>
              </a:solidFill>
              <a:latin typeface="Calibri"/>
              <a:ea typeface="Calibri"/>
              <a:cs typeface="Calibri"/>
              <a:sym typeface="Calibri"/>
            </a:endParaRPr>
          </a:p>
          <a:p>
            <a:pPr indent="0" lvl="0" marL="0" rtl="0" algn="l">
              <a:spcBef>
                <a:spcPts val="640"/>
              </a:spcBef>
              <a:spcAft>
                <a:spcPts val="0"/>
              </a:spcAft>
              <a:buNone/>
            </a:pPr>
            <a:r>
              <a:t/>
            </a:r>
            <a:endParaRPr sz="838"/>
          </a:p>
        </p:txBody>
      </p:sp>
      <p:sp>
        <p:nvSpPr>
          <p:cNvPr id="98" name="Google Shape;98;g3af221e023e_0_1584"/>
          <p:cNvSpPr txBox="1"/>
          <p:nvPr>
            <p:ph type="title"/>
          </p:nvPr>
        </p:nvSpPr>
        <p:spPr>
          <a:xfrm>
            <a:off x="311725" y="425600"/>
            <a:ext cx="3706500" cy="11418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0000"/>
              </a:buClr>
              <a:buSzPct val="100000"/>
              <a:buFont typeface="Calibri"/>
              <a:buNone/>
            </a:pPr>
            <a:r>
              <a:rPr b="1" lang="en-US" sz="4400"/>
              <a:t>Key SQL Questions</a:t>
            </a:r>
            <a:endParaRPr b="1" sz="4400"/>
          </a:p>
          <a:p>
            <a:pPr indent="0" lvl="0" marL="0" rtl="0" algn="ctr">
              <a:spcBef>
                <a:spcPts val="0"/>
              </a:spcBef>
              <a:spcAft>
                <a:spcPts val="0"/>
              </a:spcAft>
              <a:buClr>
                <a:schemeClr val="dk1"/>
              </a:buClr>
              <a:buSzPct val="157142"/>
              <a:buFont typeface="Calibri"/>
              <a:buNone/>
            </a:pPr>
            <a:r>
              <a:t/>
            </a:r>
            <a:endParaRPr/>
          </a:p>
        </p:txBody>
      </p:sp>
      <p:graphicFrame>
        <p:nvGraphicFramePr>
          <p:cNvPr id="99" name="Google Shape;99;g3af221e023e_0_1584"/>
          <p:cNvGraphicFramePr/>
          <p:nvPr/>
        </p:nvGraphicFramePr>
        <p:xfrm>
          <a:off x="4743700" y="4334550"/>
          <a:ext cx="3000000" cy="3000000"/>
        </p:xfrm>
        <a:graphic>
          <a:graphicData uri="http://schemas.openxmlformats.org/drawingml/2006/table">
            <a:tbl>
              <a:tblPr>
                <a:noFill/>
                <a:tableStyleId>{A306F7CC-6839-4D14-BB78-D7EF3422B238}</a:tableStyleId>
              </a:tblPr>
              <a:tblGrid>
                <a:gridCol w="1235500"/>
                <a:gridCol w="1235500"/>
                <a:gridCol w="1235500"/>
              </a:tblGrid>
              <a:tr h="16975">
                <a:tc>
                  <a:txBody>
                    <a:bodyPr/>
                    <a:lstStyle/>
                    <a:p>
                      <a:pPr indent="0" lvl="0" marL="0" rtl="0" algn="l">
                        <a:spcBef>
                          <a:spcPts val="0"/>
                        </a:spcBef>
                        <a:spcAft>
                          <a:spcPts val="0"/>
                        </a:spcAft>
                        <a:buNone/>
                      </a:pPr>
                      <a:r>
                        <a:rPr lang="en-US"/>
                        <a:t>Course</a:t>
                      </a:r>
                      <a:endParaRPr/>
                    </a:p>
                  </a:txBody>
                  <a:tcPr marT="91425" marB="91425" marR="91425" marL="91425"/>
                </a:tc>
                <a:tc>
                  <a:txBody>
                    <a:bodyPr/>
                    <a:lstStyle/>
                    <a:p>
                      <a:pPr indent="0" lvl="0" marL="0" rtl="0" algn="l">
                        <a:spcBef>
                          <a:spcPts val="0"/>
                        </a:spcBef>
                        <a:spcAft>
                          <a:spcPts val="0"/>
                        </a:spcAft>
                        <a:buNone/>
                      </a:pPr>
                      <a:r>
                        <a:rPr lang="en-US"/>
                        <a:t>Assignments</a:t>
                      </a:r>
                      <a:endParaRPr/>
                    </a:p>
                  </a:txBody>
                  <a:tcPr marT="91425" marB="91425" marR="91425" marL="91425"/>
                </a:tc>
                <a:tc>
                  <a:txBody>
                    <a:bodyPr/>
                    <a:lstStyle/>
                    <a:p>
                      <a:pPr indent="0" lvl="0" marL="0" rtl="0" algn="l">
                        <a:spcBef>
                          <a:spcPts val="0"/>
                        </a:spcBef>
                        <a:spcAft>
                          <a:spcPts val="0"/>
                        </a:spcAft>
                        <a:buNone/>
                      </a:pPr>
                      <a:r>
                        <a:rPr lang="en-US"/>
                        <a:t>Quizzes</a:t>
                      </a:r>
                      <a:endParaRPr/>
                    </a:p>
                  </a:txBody>
                  <a:tcPr marT="91425" marB="91425" marR="91425" marL="91425"/>
                </a:tc>
              </a:tr>
              <a:tr h="16975">
                <a:tc>
                  <a:txBody>
                    <a:bodyPr/>
                    <a:lstStyle/>
                    <a:p>
                      <a:pPr indent="0" lvl="0" marL="0" rtl="0" algn="l">
                        <a:spcBef>
                          <a:spcPts val="0"/>
                        </a:spcBef>
                        <a:spcAft>
                          <a:spcPts val="0"/>
                        </a:spcAft>
                        <a:buNone/>
                      </a:pPr>
                      <a:r>
                        <a:rPr lang="en-US"/>
                        <a:t>CS101</a:t>
                      </a:r>
                      <a:endParaRPr/>
                    </a:p>
                  </a:txBody>
                  <a:tcPr marT="91425" marB="91425" marR="91425" marL="91425"/>
                </a:tc>
                <a:tc>
                  <a:txBody>
                    <a:bodyPr/>
                    <a:lstStyle/>
                    <a:p>
                      <a:pPr indent="0" lvl="0" marL="0" rtl="0" algn="l">
                        <a:spcBef>
                          <a:spcPts val="0"/>
                        </a:spcBef>
                        <a:spcAft>
                          <a:spcPts val="0"/>
                        </a:spcAft>
                        <a:buNone/>
                      </a:pPr>
                      <a:r>
                        <a:rPr lang="en-US"/>
                        <a:t>12</a:t>
                      </a:r>
                      <a:endParaRPr/>
                    </a:p>
                  </a:txBody>
                  <a:tcPr marT="91425" marB="91425" marR="91425" marL="91425"/>
                </a:tc>
                <a:tc>
                  <a:txBody>
                    <a:bodyPr/>
                    <a:lstStyle/>
                    <a:p>
                      <a:pPr indent="0" lvl="0" marL="0" rtl="0" algn="l">
                        <a:spcBef>
                          <a:spcPts val="0"/>
                        </a:spcBef>
                        <a:spcAft>
                          <a:spcPts val="0"/>
                        </a:spcAft>
                        <a:buNone/>
                      </a:pPr>
                      <a:r>
                        <a:rPr lang="en-US"/>
                        <a:t>4</a:t>
                      </a:r>
                      <a:endParaRPr/>
                    </a:p>
                  </a:txBody>
                  <a:tcPr marT="91425" marB="91425" marR="91425" marL="91425"/>
                </a:tc>
              </a:tr>
              <a:tr h="16975">
                <a:tc>
                  <a:txBody>
                    <a:bodyPr/>
                    <a:lstStyle/>
                    <a:p>
                      <a:pPr indent="0" lvl="0" marL="0" rtl="0" algn="l">
                        <a:spcBef>
                          <a:spcPts val="0"/>
                        </a:spcBef>
                        <a:spcAft>
                          <a:spcPts val="0"/>
                        </a:spcAft>
                        <a:buNone/>
                      </a:pPr>
                      <a:r>
                        <a:rPr lang="en-US"/>
                        <a:t>BIO201</a:t>
                      </a:r>
                      <a:endParaRPr/>
                    </a:p>
                  </a:txBody>
                  <a:tcPr marT="91425" marB="91425" marR="91425" marL="91425"/>
                </a:tc>
                <a:tc>
                  <a:txBody>
                    <a:bodyPr/>
                    <a:lstStyle/>
                    <a:p>
                      <a:pPr indent="0" lvl="0" marL="0" rtl="0" algn="l">
                        <a:spcBef>
                          <a:spcPts val="0"/>
                        </a:spcBef>
                        <a:spcAft>
                          <a:spcPts val="0"/>
                        </a:spcAft>
                        <a:buNone/>
                      </a:pPr>
                      <a:r>
                        <a:rPr lang="en-US"/>
                        <a:t>10</a:t>
                      </a:r>
                      <a:endParaRPr/>
                    </a:p>
                  </a:txBody>
                  <a:tcPr marT="91425" marB="91425" marR="91425" marL="91425"/>
                </a:tc>
                <a:tc>
                  <a:txBody>
                    <a:bodyPr/>
                    <a:lstStyle/>
                    <a:p>
                      <a:pPr indent="0" lvl="0" marL="0" rtl="0" algn="l">
                        <a:spcBef>
                          <a:spcPts val="0"/>
                        </a:spcBef>
                        <a:spcAft>
                          <a:spcPts val="0"/>
                        </a:spcAft>
                        <a:buNone/>
                      </a:pPr>
                      <a:r>
                        <a:rPr lang="en-US"/>
                        <a:t>3</a:t>
                      </a:r>
                      <a:endParaRPr/>
                    </a:p>
                  </a:txBody>
                  <a:tcPr marT="91425" marB="91425" marR="91425" marL="91425"/>
                </a:tc>
              </a:tr>
              <a:tr h="16975">
                <a:tc>
                  <a:txBody>
                    <a:bodyPr/>
                    <a:lstStyle/>
                    <a:p>
                      <a:pPr indent="0" lvl="0" marL="0" rtl="0" algn="l">
                        <a:spcBef>
                          <a:spcPts val="0"/>
                        </a:spcBef>
                        <a:spcAft>
                          <a:spcPts val="0"/>
                        </a:spcAft>
                        <a:buNone/>
                      </a:pPr>
                      <a:r>
                        <a:rPr lang="en-US"/>
                        <a:t>HIST110</a:t>
                      </a:r>
                      <a:endParaRPr/>
                    </a:p>
                  </a:txBody>
                  <a:tcPr marT="91425" marB="91425" marR="91425" marL="91425"/>
                </a:tc>
                <a:tc>
                  <a:txBody>
                    <a:bodyPr/>
                    <a:lstStyle/>
                    <a:p>
                      <a:pPr indent="0" lvl="0" marL="0" rtl="0" algn="l">
                        <a:spcBef>
                          <a:spcPts val="0"/>
                        </a:spcBef>
                        <a:spcAft>
                          <a:spcPts val="0"/>
                        </a:spcAft>
                        <a:buNone/>
                      </a:pPr>
                      <a:r>
                        <a:rPr lang="en-US"/>
                        <a:t>6</a:t>
                      </a:r>
                      <a:endParaRPr/>
                    </a:p>
                  </a:txBody>
                  <a:tcPr marT="91425" marB="91425" marR="91425" marL="91425"/>
                </a:tc>
                <a:tc>
                  <a:txBody>
                    <a:bodyPr/>
                    <a:lstStyle/>
                    <a:p>
                      <a:pPr indent="0" lvl="0" marL="0" rtl="0" algn="l">
                        <a:spcBef>
                          <a:spcPts val="0"/>
                        </a:spcBef>
                        <a:spcAft>
                          <a:spcPts val="0"/>
                        </a:spcAft>
                        <a:buNone/>
                      </a:pPr>
                      <a:r>
                        <a:rPr lang="en-US"/>
                        <a:t>1</a:t>
                      </a:r>
                      <a:endParaRPr/>
                    </a:p>
                  </a:txBody>
                  <a:tcPr marT="91425" marB="91425" marR="91425" marL="91425"/>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g3af221e023e_0_1589"/>
          <p:cNvSpPr txBox="1"/>
          <p:nvPr>
            <p:ph type="title"/>
          </p:nvPr>
        </p:nvSpPr>
        <p:spPr>
          <a:xfrm>
            <a:off x="311725" y="667900"/>
            <a:ext cx="3706500" cy="33453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Assignment Performance Overview</a:t>
            </a:r>
            <a:endParaRPr/>
          </a:p>
        </p:txBody>
      </p:sp>
      <p:sp>
        <p:nvSpPr>
          <p:cNvPr id="105" name="Google Shape;105;g3af221e023e_0_1589"/>
          <p:cNvSpPr txBox="1"/>
          <p:nvPr>
            <p:ph idx="1" type="body"/>
          </p:nvPr>
        </p:nvSpPr>
        <p:spPr>
          <a:xfrm>
            <a:off x="4644675" y="667900"/>
            <a:ext cx="4166400" cy="5464800"/>
          </a:xfrm>
          <a:prstGeom prst="rect">
            <a:avLst/>
          </a:prstGeom>
          <a:noFill/>
          <a:ln>
            <a:noFill/>
          </a:ln>
        </p:spPr>
        <p:txBody>
          <a:bodyPr anchorCtr="0" anchor="t" bIns="45700" lIns="91425" spcFirstLastPara="1" rIns="91425" wrap="square" tIns="45700">
            <a:normAutofit lnSpcReduction="10000"/>
          </a:bodyPr>
          <a:lstStyle/>
          <a:p>
            <a:pPr indent="0" lvl="0" marL="457200" rtl="0" algn="l">
              <a:spcBef>
                <a:spcPts val="0"/>
              </a:spcBef>
              <a:spcAft>
                <a:spcPts val="0"/>
              </a:spcAft>
              <a:buNone/>
            </a:pPr>
            <a:r>
              <a:t/>
            </a:r>
            <a:endParaRPr/>
          </a:p>
          <a:p>
            <a:pPr indent="0" lvl="0" marL="0" rtl="0" algn="l">
              <a:spcBef>
                <a:spcPts val="640"/>
              </a:spcBef>
              <a:spcAft>
                <a:spcPts val="0"/>
              </a:spcAft>
              <a:buNone/>
            </a:pPr>
            <a:r>
              <a:rPr lang="en-US" sz="3200">
                <a:solidFill>
                  <a:schemeClr val="dk1"/>
                </a:solidFill>
                <a:latin typeface="Merriweather"/>
                <a:ea typeface="Merriweather"/>
                <a:cs typeface="Merriweather"/>
                <a:sym typeface="Merriweather"/>
              </a:rPr>
              <a:t>Insight: While most assignments show stable performance, lower averages may indicate </a:t>
            </a:r>
            <a:r>
              <a:rPr lang="en-US" sz="3200">
                <a:solidFill>
                  <a:schemeClr val="dk1"/>
                </a:solidFill>
                <a:latin typeface="Merriweather"/>
                <a:ea typeface="Merriweather"/>
                <a:cs typeface="Merriweather"/>
                <a:sym typeface="Merriweather"/>
              </a:rPr>
              <a:t>difficulty</a:t>
            </a:r>
            <a:r>
              <a:rPr lang="en-US" sz="3200">
                <a:solidFill>
                  <a:schemeClr val="dk1"/>
                </a:solidFill>
                <a:latin typeface="Merriweather"/>
                <a:ea typeface="Merriweather"/>
                <a:cs typeface="Merriweather"/>
                <a:sym typeface="Merriweather"/>
              </a:rPr>
              <a:t> spikes or unclear instructions.</a:t>
            </a:r>
            <a:endParaRPr sz="3200">
              <a:solidFill>
                <a:schemeClr val="dk1"/>
              </a:solidFill>
              <a:latin typeface="Merriweather"/>
              <a:ea typeface="Merriweather"/>
              <a:cs typeface="Merriweather"/>
              <a:sym typeface="Merriweather"/>
            </a:endParaRPr>
          </a:p>
          <a:p>
            <a:pPr indent="0" lvl="0" marL="0" rtl="0" algn="l">
              <a:spcBef>
                <a:spcPts val="640"/>
              </a:spcBef>
              <a:spcAft>
                <a:spcPts val="0"/>
              </a:spcAft>
              <a:buNone/>
            </a:pPr>
            <a:r>
              <a:t/>
            </a:r>
            <a:endParaRPr sz="3200">
              <a:solidFill>
                <a:schemeClr val="dk1"/>
              </a:solidFill>
              <a:latin typeface="Calibri"/>
              <a:ea typeface="Calibri"/>
              <a:cs typeface="Calibri"/>
              <a:sym typeface="Calibri"/>
            </a:endParaRPr>
          </a:p>
          <a:p>
            <a:pPr indent="-139700" lvl="0" marL="342900" rtl="0" algn="l">
              <a:spcBef>
                <a:spcPts val="640"/>
              </a:spcBef>
              <a:spcAft>
                <a:spcPts val="0"/>
              </a:spcAft>
              <a:buClr>
                <a:schemeClr val="dk1"/>
              </a:buClr>
              <a:buSzPts val="3200"/>
              <a:buNone/>
            </a:pPr>
            <a:r>
              <a:t/>
            </a:r>
            <a:endParaRPr sz="3200">
              <a:solidFill>
                <a:schemeClr val="dk1"/>
              </a:solidFill>
              <a:latin typeface="Calibri"/>
              <a:ea typeface="Calibri"/>
              <a:cs typeface="Calibri"/>
              <a:sym typeface="Calibri"/>
            </a:endParaRPr>
          </a:p>
          <a:p>
            <a:pPr indent="457200" lvl="0" marL="0" rtl="0" algn="l">
              <a:spcBef>
                <a:spcPts val="640"/>
              </a:spcBef>
              <a:spcAft>
                <a:spcPts val="0"/>
              </a:spcAft>
              <a:buNone/>
            </a:pPr>
            <a:r>
              <a:t/>
            </a:r>
            <a:endParaRPr/>
          </a:p>
        </p:txBody>
      </p:sp>
      <p:sp>
        <p:nvSpPr>
          <p:cNvPr id="106" name="Google Shape;106;g3af221e023e_0_1589"/>
          <p:cNvSpPr txBox="1"/>
          <p:nvPr>
            <p:ph type="title"/>
          </p:nvPr>
        </p:nvSpPr>
        <p:spPr>
          <a:xfrm>
            <a:off x="212725" y="1166400"/>
            <a:ext cx="3963000" cy="2705700"/>
          </a:xfrm>
          <a:prstGeom prst="rect">
            <a:avLst/>
          </a:prstGeom>
          <a:noFill/>
          <a:ln>
            <a:noFill/>
          </a:ln>
        </p:spPr>
        <p:txBody>
          <a:bodyPr anchorCtr="0" anchor="ctr" bIns="45700" lIns="91425" spcFirstLastPara="1" rIns="91425" wrap="square" tIns="45700">
            <a:noAutofit/>
          </a:bodyPr>
          <a:lstStyle/>
          <a:p>
            <a:pPr indent="0" lvl="0" marL="457200" rtl="0" algn="l">
              <a:lnSpc>
                <a:spcPct val="115000"/>
              </a:lnSpc>
              <a:spcBef>
                <a:spcPts val="0"/>
              </a:spcBef>
              <a:spcAft>
                <a:spcPts val="0"/>
              </a:spcAft>
              <a:buSzPts val="990"/>
              <a:buNone/>
            </a:pPr>
            <a:r>
              <a:rPr b="1" i="1" lang="en-US" sz="3880"/>
              <a:t>What are the min, max, and average scores for each assignment?</a:t>
            </a:r>
            <a:endParaRPr b="1" i="1" sz="4960"/>
          </a:p>
          <a:p>
            <a:pPr indent="0" lvl="0" marL="0" rtl="0" algn="ctr">
              <a:spcBef>
                <a:spcPts val="0"/>
              </a:spcBef>
              <a:spcAft>
                <a:spcPts val="0"/>
              </a:spcAft>
              <a:buClr>
                <a:schemeClr val="dk1"/>
              </a:buClr>
              <a:buSzPts val="3960"/>
              <a:buFont typeface="Calibri"/>
              <a:buNone/>
            </a:pPr>
            <a:r>
              <a:t/>
            </a:r>
            <a:endParaRPr sz="2520"/>
          </a:p>
        </p:txBody>
      </p:sp>
      <p:graphicFrame>
        <p:nvGraphicFramePr>
          <p:cNvPr id="107" name="Google Shape;107;g3af221e023e_0_1589"/>
          <p:cNvGraphicFramePr/>
          <p:nvPr/>
        </p:nvGraphicFramePr>
        <p:xfrm>
          <a:off x="4644675" y="4711225"/>
          <a:ext cx="3000000" cy="3000000"/>
        </p:xfrm>
        <a:graphic>
          <a:graphicData uri="http://schemas.openxmlformats.org/drawingml/2006/table">
            <a:tbl>
              <a:tblPr>
                <a:noFill/>
                <a:tableStyleId>{A306F7CC-6839-4D14-BB78-D7EF3422B238}</a:tableStyleId>
              </a:tblPr>
              <a:tblGrid>
                <a:gridCol w="1085700"/>
                <a:gridCol w="1085700"/>
                <a:gridCol w="1085700"/>
                <a:gridCol w="1085700"/>
              </a:tblGrid>
              <a:tr h="381000">
                <a:tc>
                  <a:txBody>
                    <a:bodyPr/>
                    <a:lstStyle/>
                    <a:p>
                      <a:pPr indent="0" lvl="0" marL="0" rtl="0" algn="l">
                        <a:spcBef>
                          <a:spcPts val="0"/>
                        </a:spcBef>
                        <a:spcAft>
                          <a:spcPts val="0"/>
                        </a:spcAft>
                        <a:buNone/>
                      </a:pPr>
                      <a:r>
                        <a:rPr lang="en-US"/>
                        <a:t>Assignment</a:t>
                      </a:r>
                      <a:endParaRPr/>
                    </a:p>
                  </a:txBody>
                  <a:tcPr marT="91425" marB="91425" marR="91425" marL="91425"/>
                </a:tc>
                <a:tc>
                  <a:txBody>
                    <a:bodyPr/>
                    <a:lstStyle/>
                    <a:p>
                      <a:pPr indent="0" lvl="0" marL="0" rtl="0" algn="l">
                        <a:spcBef>
                          <a:spcPts val="0"/>
                        </a:spcBef>
                        <a:spcAft>
                          <a:spcPts val="0"/>
                        </a:spcAft>
                        <a:buNone/>
                      </a:pPr>
                      <a:r>
                        <a:rPr lang="en-US"/>
                        <a:t>Min</a:t>
                      </a:r>
                      <a:endParaRPr/>
                    </a:p>
                  </a:txBody>
                  <a:tcPr marT="91425" marB="91425" marR="91425" marL="91425"/>
                </a:tc>
                <a:tc>
                  <a:txBody>
                    <a:bodyPr/>
                    <a:lstStyle/>
                    <a:p>
                      <a:pPr indent="0" lvl="0" marL="0" rtl="0" algn="l">
                        <a:spcBef>
                          <a:spcPts val="0"/>
                        </a:spcBef>
                        <a:spcAft>
                          <a:spcPts val="0"/>
                        </a:spcAft>
                        <a:buNone/>
                      </a:pPr>
                      <a:r>
                        <a:rPr lang="en-US"/>
                        <a:t>Max</a:t>
                      </a:r>
                      <a:endParaRPr/>
                    </a:p>
                  </a:txBody>
                  <a:tcPr marT="91425" marB="91425" marR="91425" marL="91425"/>
                </a:tc>
                <a:tc>
                  <a:txBody>
                    <a:bodyPr/>
                    <a:lstStyle/>
                    <a:p>
                      <a:pPr indent="0" lvl="0" marL="0" rtl="0" algn="l">
                        <a:spcBef>
                          <a:spcPts val="0"/>
                        </a:spcBef>
                        <a:spcAft>
                          <a:spcPts val="0"/>
                        </a:spcAft>
                        <a:buNone/>
                      </a:pPr>
                      <a:r>
                        <a:rPr lang="en-US"/>
                        <a:t>Avg</a:t>
                      </a:r>
                      <a:endParaRPr/>
                    </a:p>
                  </a:txBody>
                  <a:tcPr marT="91425" marB="91425" marR="91425" marL="91425"/>
                </a:tc>
              </a:tr>
              <a:tr h="381000">
                <a:tc>
                  <a:txBody>
                    <a:bodyPr/>
                    <a:lstStyle/>
                    <a:p>
                      <a:pPr indent="0" lvl="0" marL="0" rtl="0" algn="l">
                        <a:spcBef>
                          <a:spcPts val="0"/>
                        </a:spcBef>
                        <a:spcAft>
                          <a:spcPts val="0"/>
                        </a:spcAft>
                        <a:buNone/>
                      </a:pPr>
                      <a:r>
                        <a:rPr lang="en-US"/>
                        <a:t>A1</a:t>
                      </a:r>
                      <a:endParaRPr/>
                    </a:p>
                  </a:txBody>
                  <a:tcPr marT="91425" marB="91425" marR="91425" marL="91425"/>
                </a:tc>
                <a:tc>
                  <a:txBody>
                    <a:bodyPr/>
                    <a:lstStyle/>
                    <a:p>
                      <a:pPr indent="0" lvl="0" marL="0" rtl="0" algn="l">
                        <a:spcBef>
                          <a:spcPts val="0"/>
                        </a:spcBef>
                        <a:spcAft>
                          <a:spcPts val="0"/>
                        </a:spcAft>
                        <a:buNone/>
                      </a:pPr>
                      <a:r>
                        <a:rPr lang="en-US"/>
                        <a:t>40</a:t>
                      </a:r>
                      <a:endParaRPr/>
                    </a:p>
                  </a:txBody>
                  <a:tcPr marT="91425" marB="91425" marR="91425" marL="91425"/>
                </a:tc>
                <a:tc>
                  <a:txBody>
                    <a:bodyPr/>
                    <a:lstStyle/>
                    <a:p>
                      <a:pPr indent="0" lvl="0" marL="0" rtl="0" algn="l">
                        <a:spcBef>
                          <a:spcPts val="0"/>
                        </a:spcBef>
                        <a:spcAft>
                          <a:spcPts val="0"/>
                        </a:spcAft>
                        <a:buNone/>
                      </a:pPr>
                      <a:r>
                        <a:rPr lang="en-US"/>
                        <a:t>100</a:t>
                      </a:r>
                      <a:endParaRPr/>
                    </a:p>
                  </a:txBody>
                  <a:tcPr marT="91425" marB="91425" marR="91425" marL="91425"/>
                </a:tc>
                <a:tc>
                  <a:txBody>
                    <a:bodyPr/>
                    <a:lstStyle/>
                    <a:p>
                      <a:pPr indent="0" lvl="0" marL="0" rtl="0" algn="l">
                        <a:spcBef>
                          <a:spcPts val="0"/>
                        </a:spcBef>
                        <a:spcAft>
                          <a:spcPts val="0"/>
                        </a:spcAft>
                        <a:buNone/>
                      </a:pPr>
                      <a:r>
                        <a:rPr lang="en-US"/>
                        <a:t>82</a:t>
                      </a:r>
                      <a:endParaRPr/>
                    </a:p>
                  </a:txBody>
                  <a:tcPr marT="91425" marB="91425" marR="91425" marL="91425"/>
                </a:tc>
              </a:tr>
              <a:tr h="381000">
                <a:tc>
                  <a:txBody>
                    <a:bodyPr/>
                    <a:lstStyle/>
                    <a:p>
                      <a:pPr indent="0" lvl="0" marL="0" rtl="0" algn="l">
                        <a:spcBef>
                          <a:spcPts val="0"/>
                        </a:spcBef>
                        <a:spcAft>
                          <a:spcPts val="0"/>
                        </a:spcAft>
                        <a:buNone/>
                      </a:pPr>
                      <a:r>
                        <a:rPr lang="en-US"/>
                        <a:t>A2</a:t>
                      </a:r>
                      <a:endParaRPr/>
                    </a:p>
                  </a:txBody>
                  <a:tcPr marT="91425" marB="91425" marR="91425" marL="91425"/>
                </a:tc>
                <a:tc>
                  <a:txBody>
                    <a:bodyPr/>
                    <a:lstStyle/>
                    <a:p>
                      <a:pPr indent="0" lvl="0" marL="0" rtl="0" algn="l">
                        <a:spcBef>
                          <a:spcPts val="0"/>
                        </a:spcBef>
                        <a:spcAft>
                          <a:spcPts val="0"/>
                        </a:spcAft>
                        <a:buNone/>
                      </a:pPr>
                      <a:r>
                        <a:rPr lang="en-US"/>
                        <a:t>55</a:t>
                      </a:r>
                      <a:endParaRPr/>
                    </a:p>
                  </a:txBody>
                  <a:tcPr marT="91425" marB="91425" marR="91425" marL="91425"/>
                </a:tc>
                <a:tc>
                  <a:txBody>
                    <a:bodyPr/>
                    <a:lstStyle/>
                    <a:p>
                      <a:pPr indent="0" lvl="0" marL="0" rtl="0" algn="l">
                        <a:spcBef>
                          <a:spcPts val="0"/>
                        </a:spcBef>
                        <a:spcAft>
                          <a:spcPts val="0"/>
                        </a:spcAft>
                        <a:buNone/>
                      </a:pPr>
                      <a:r>
                        <a:rPr lang="en-US"/>
                        <a:t>98</a:t>
                      </a:r>
                      <a:endParaRPr/>
                    </a:p>
                  </a:txBody>
                  <a:tcPr marT="91425" marB="91425" marR="91425" marL="91425"/>
                </a:tc>
                <a:tc>
                  <a:txBody>
                    <a:bodyPr/>
                    <a:lstStyle/>
                    <a:p>
                      <a:pPr indent="0" lvl="0" marL="0" rtl="0" algn="l">
                        <a:spcBef>
                          <a:spcPts val="0"/>
                        </a:spcBef>
                        <a:spcAft>
                          <a:spcPts val="0"/>
                        </a:spcAft>
                        <a:buNone/>
                      </a:pPr>
                      <a:r>
                        <a:rPr lang="en-US"/>
                        <a:t>75</a:t>
                      </a:r>
                      <a:endParaRPr/>
                    </a:p>
                  </a:txBody>
                  <a:tcPr marT="91425" marB="91425" marR="91425" marL="91425"/>
                </a:tc>
              </a:tr>
              <a:tr h="381000">
                <a:tc>
                  <a:txBody>
                    <a:bodyPr/>
                    <a:lstStyle/>
                    <a:p>
                      <a:pPr indent="0" lvl="0" marL="0" rtl="0" algn="l">
                        <a:spcBef>
                          <a:spcPts val="0"/>
                        </a:spcBef>
                        <a:spcAft>
                          <a:spcPts val="0"/>
                        </a:spcAft>
                        <a:buNone/>
                      </a:pPr>
                      <a:r>
                        <a:rPr lang="en-US"/>
                        <a:t>A3</a:t>
                      </a:r>
                      <a:endParaRPr/>
                    </a:p>
                  </a:txBody>
                  <a:tcPr marT="91425" marB="91425" marR="91425" marL="91425"/>
                </a:tc>
                <a:tc>
                  <a:txBody>
                    <a:bodyPr/>
                    <a:lstStyle/>
                    <a:p>
                      <a:pPr indent="0" lvl="0" marL="0" rtl="0" algn="l">
                        <a:spcBef>
                          <a:spcPts val="0"/>
                        </a:spcBef>
                        <a:spcAft>
                          <a:spcPts val="0"/>
                        </a:spcAft>
                        <a:buNone/>
                      </a:pPr>
                      <a:r>
                        <a:rPr lang="en-US"/>
                        <a:t>20</a:t>
                      </a:r>
                      <a:endParaRPr/>
                    </a:p>
                  </a:txBody>
                  <a:tcPr marT="91425" marB="91425" marR="91425" marL="91425"/>
                </a:tc>
                <a:tc>
                  <a:txBody>
                    <a:bodyPr/>
                    <a:lstStyle/>
                    <a:p>
                      <a:pPr indent="0" lvl="0" marL="0" rtl="0" algn="l">
                        <a:spcBef>
                          <a:spcPts val="0"/>
                        </a:spcBef>
                        <a:spcAft>
                          <a:spcPts val="0"/>
                        </a:spcAft>
                        <a:buNone/>
                      </a:pPr>
                      <a:r>
                        <a:rPr lang="en-US"/>
                        <a:t>96</a:t>
                      </a:r>
                      <a:endParaRPr/>
                    </a:p>
                  </a:txBody>
                  <a:tcPr marT="91425" marB="91425" marR="91425" marL="91425"/>
                </a:tc>
                <a:tc>
                  <a:txBody>
                    <a:bodyPr/>
                    <a:lstStyle/>
                    <a:p>
                      <a:pPr indent="0" lvl="0" marL="0" rtl="0" algn="l">
                        <a:spcBef>
                          <a:spcPts val="0"/>
                        </a:spcBef>
                        <a:spcAft>
                          <a:spcPts val="0"/>
                        </a:spcAft>
                        <a:buNone/>
                      </a:pPr>
                      <a:r>
                        <a:rPr lang="en-US"/>
                        <a:t>68</a:t>
                      </a:r>
                      <a:endParaRPr/>
                    </a:p>
                  </a:txBody>
                  <a:tcPr marT="91425" marB="91425" marR="91425" marL="91425"/>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g3af221e023e_0_1594"/>
          <p:cNvSpPr txBox="1"/>
          <p:nvPr>
            <p:ph type="title"/>
          </p:nvPr>
        </p:nvSpPr>
        <p:spPr>
          <a:xfrm>
            <a:off x="311725" y="667900"/>
            <a:ext cx="3706500" cy="33453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i="1" lang="en-US" sz="3500"/>
              <a:t>Which students have incomplete or late submissions?</a:t>
            </a:r>
            <a:endParaRPr b="1" i="1" sz="3100"/>
          </a:p>
        </p:txBody>
      </p:sp>
      <p:sp>
        <p:nvSpPr>
          <p:cNvPr id="113" name="Google Shape;113;g3af221e023e_0_1594"/>
          <p:cNvSpPr txBox="1"/>
          <p:nvPr>
            <p:ph idx="1" type="body"/>
          </p:nvPr>
        </p:nvSpPr>
        <p:spPr>
          <a:xfrm>
            <a:off x="4644675" y="667900"/>
            <a:ext cx="4166400" cy="5464800"/>
          </a:xfrm>
          <a:prstGeom prst="rect">
            <a:avLst/>
          </a:prstGeom>
          <a:noFill/>
          <a:ln>
            <a:noFill/>
          </a:ln>
        </p:spPr>
        <p:txBody>
          <a:bodyPr anchorCtr="0" anchor="t" bIns="45700" lIns="91425" spcFirstLastPara="1" rIns="91425" wrap="square" tIns="45700">
            <a:normAutofit/>
          </a:bodyPr>
          <a:lstStyle/>
          <a:p>
            <a:pPr indent="0" lvl="0" marL="0" rtl="0" algn="l">
              <a:spcBef>
                <a:spcPts val="640"/>
              </a:spcBef>
              <a:spcAft>
                <a:spcPts val="0"/>
              </a:spcAft>
              <a:buNone/>
            </a:pPr>
            <a:r>
              <a:rPr lang="en-US" sz="2600">
                <a:solidFill>
                  <a:schemeClr val="dk1"/>
                </a:solidFill>
                <a:latin typeface="Merriweather"/>
                <a:ea typeface="Merriweather"/>
                <a:cs typeface="Merriweather"/>
                <a:sym typeface="Merriweather"/>
              </a:rPr>
              <a:t>Insight: Repeated late or missing work signals early disengagement and aligns with academic risk indicators.</a:t>
            </a:r>
            <a:endParaRPr sz="2600">
              <a:solidFill>
                <a:schemeClr val="dk1"/>
              </a:solidFill>
              <a:latin typeface="Merriweather"/>
              <a:ea typeface="Merriweather"/>
              <a:cs typeface="Merriweather"/>
              <a:sym typeface="Merriweather"/>
            </a:endParaRPr>
          </a:p>
          <a:p>
            <a:pPr indent="0" lvl="0" marL="0" rtl="0" algn="l">
              <a:spcBef>
                <a:spcPts val="640"/>
              </a:spcBef>
              <a:spcAft>
                <a:spcPts val="0"/>
              </a:spcAft>
              <a:buNone/>
            </a:pPr>
            <a:r>
              <a:t/>
            </a:r>
            <a:endParaRPr sz="3200">
              <a:solidFill>
                <a:schemeClr val="dk1"/>
              </a:solidFill>
              <a:latin typeface="Calibri"/>
              <a:ea typeface="Calibri"/>
              <a:cs typeface="Calibri"/>
              <a:sym typeface="Calibri"/>
            </a:endParaRPr>
          </a:p>
          <a:p>
            <a:pPr indent="-139700" lvl="0" marL="342900" rtl="0" algn="l">
              <a:spcBef>
                <a:spcPts val="640"/>
              </a:spcBef>
              <a:spcAft>
                <a:spcPts val="0"/>
              </a:spcAft>
              <a:buClr>
                <a:schemeClr val="dk1"/>
              </a:buClr>
              <a:buSzPts val="3200"/>
              <a:buNone/>
            </a:pPr>
            <a:r>
              <a:t/>
            </a:r>
            <a:endParaRPr sz="3200">
              <a:solidFill>
                <a:schemeClr val="dk1"/>
              </a:solidFill>
              <a:latin typeface="Calibri"/>
              <a:ea typeface="Calibri"/>
              <a:cs typeface="Calibri"/>
              <a:sym typeface="Calibri"/>
            </a:endParaRPr>
          </a:p>
          <a:p>
            <a:pPr indent="0" lvl="0" marL="342900" rtl="0" algn="l">
              <a:spcBef>
                <a:spcPts val="640"/>
              </a:spcBef>
              <a:spcAft>
                <a:spcPts val="0"/>
              </a:spcAft>
              <a:buNone/>
            </a:pPr>
            <a:r>
              <a:t/>
            </a:r>
            <a:endParaRPr/>
          </a:p>
          <a:p>
            <a:pPr indent="-342900" lvl="0" marL="342900" rtl="0" algn="l">
              <a:spcBef>
                <a:spcPts val="640"/>
              </a:spcBef>
              <a:spcAft>
                <a:spcPts val="1200"/>
              </a:spcAft>
              <a:buClr>
                <a:schemeClr val="dk1"/>
              </a:buClr>
              <a:buSzPts val="3200"/>
              <a:buChar char="●"/>
            </a:pPr>
            <a:r>
              <a:t/>
            </a:r>
            <a:endParaRPr/>
          </a:p>
        </p:txBody>
      </p:sp>
      <p:graphicFrame>
        <p:nvGraphicFramePr>
          <p:cNvPr id="114" name="Google Shape;114;g3af221e023e_0_1594"/>
          <p:cNvGraphicFramePr/>
          <p:nvPr/>
        </p:nvGraphicFramePr>
        <p:xfrm>
          <a:off x="5068050" y="4013200"/>
          <a:ext cx="3000000" cy="3000000"/>
        </p:xfrm>
        <a:graphic>
          <a:graphicData uri="http://schemas.openxmlformats.org/drawingml/2006/table">
            <a:tbl>
              <a:tblPr>
                <a:noFill/>
                <a:tableStyleId>{A306F7CC-6839-4D14-BB78-D7EF3422B238}</a:tableStyleId>
              </a:tblPr>
              <a:tblGrid>
                <a:gridCol w="1050300"/>
                <a:gridCol w="1050300"/>
                <a:gridCol w="1050300"/>
              </a:tblGrid>
              <a:tr h="140450">
                <a:tc>
                  <a:txBody>
                    <a:bodyPr/>
                    <a:lstStyle/>
                    <a:p>
                      <a:pPr indent="0" lvl="0" marL="0" rtl="0" algn="l">
                        <a:spcBef>
                          <a:spcPts val="0"/>
                        </a:spcBef>
                        <a:spcAft>
                          <a:spcPts val="0"/>
                        </a:spcAft>
                        <a:buNone/>
                      </a:pPr>
                      <a:r>
                        <a:rPr lang="en-US"/>
                        <a:t>Student</a:t>
                      </a:r>
                      <a:endParaRPr/>
                    </a:p>
                  </a:txBody>
                  <a:tcPr marT="91425" marB="91425" marR="91425" marL="91425"/>
                </a:tc>
                <a:tc>
                  <a:txBody>
                    <a:bodyPr/>
                    <a:lstStyle/>
                    <a:p>
                      <a:pPr indent="0" lvl="0" marL="0" rtl="0" algn="l">
                        <a:spcBef>
                          <a:spcPts val="0"/>
                        </a:spcBef>
                        <a:spcAft>
                          <a:spcPts val="0"/>
                        </a:spcAft>
                        <a:buNone/>
                      </a:pPr>
                      <a:r>
                        <a:rPr lang="en-US"/>
                        <a:t>Late</a:t>
                      </a:r>
                      <a:endParaRPr/>
                    </a:p>
                  </a:txBody>
                  <a:tcPr marT="91425" marB="91425" marR="91425" marL="91425"/>
                </a:tc>
                <a:tc>
                  <a:txBody>
                    <a:bodyPr/>
                    <a:lstStyle/>
                    <a:p>
                      <a:pPr indent="0" lvl="0" marL="0" rtl="0" algn="l">
                        <a:spcBef>
                          <a:spcPts val="0"/>
                        </a:spcBef>
                        <a:spcAft>
                          <a:spcPts val="0"/>
                        </a:spcAft>
                        <a:buNone/>
                      </a:pPr>
                      <a:r>
                        <a:rPr lang="en-US"/>
                        <a:t>Missing</a:t>
                      </a:r>
                      <a:endParaRPr/>
                    </a:p>
                  </a:txBody>
                  <a:tcPr marT="91425" marB="91425" marR="91425" marL="91425"/>
                </a:tc>
              </a:tr>
              <a:tr h="140450">
                <a:tc>
                  <a:txBody>
                    <a:bodyPr/>
                    <a:lstStyle/>
                    <a:p>
                      <a:pPr indent="0" lvl="0" marL="0" rtl="0" algn="l">
                        <a:spcBef>
                          <a:spcPts val="0"/>
                        </a:spcBef>
                        <a:spcAft>
                          <a:spcPts val="0"/>
                        </a:spcAft>
                        <a:buNone/>
                      </a:pPr>
                      <a:r>
                        <a:rPr lang="en-US"/>
                        <a:t>S101</a:t>
                      </a:r>
                      <a:endParaRPr/>
                    </a:p>
                  </a:txBody>
                  <a:tcPr marT="91425" marB="91425" marR="91425" marL="91425"/>
                </a:tc>
                <a:tc>
                  <a:txBody>
                    <a:bodyPr/>
                    <a:lstStyle/>
                    <a:p>
                      <a:pPr indent="0" lvl="0" marL="0" rtl="0" algn="l">
                        <a:spcBef>
                          <a:spcPts val="0"/>
                        </a:spcBef>
                        <a:spcAft>
                          <a:spcPts val="0"/>
                        </a:spcAft>
                        <a:buNone/>
                      </a:pPr>
                      <a:r>
                        <a:rPr lang="en-US"/>
                        <a:t>3</a:t>
                      </a:r>
                      <a:endParaRPr/>
                    </a:p>
                  </a:txBody>
                  <a:tcPr marT="91425" marB="91425" marR="91425" marL="91425"/>
                </a:tc>
                <a:tc>
                  <a:txBody>
                    <a:bodyPr/>
                    <a:lstStyle/>
                    <a:p>
                      <a:pPr indent="0" lvl="0" marL="0" rtl="0" algn="l">
                        <a:spcBef>
                          <a:spcPts val="0"/>
                        </a:spcBef>
                        <a:spcAft>
                          <a:spcPts val="0"/>
                        </a:spcAft>
                        <a:buNone/>
                      </a:pPr>
                      <a:r>
                        <a:rPr lang="en-US"/>
                        <a:t>1</a:t>
                      </a:r>
                      <a:endParaRPr/>
                    </a:p>
                  </a:txBody>
                  <a:tcPr marT="91425" marB="91425" marR="91425" marL="91425"/>
                </a:tc>
              </a:tr>
              <a:tr h="140450">
                <a:tc>
                  <a:txBody>
                    <a:bodyPr/>
                    <a:lstStyle/>
                    <a:p>
                      <a:pPr indent="0" lvl="0" marL="0" rtl="0" algn="l">
                        <a:spcBef>
                          <a:spcPts val="0"/>
                        </a:spcBef>
                        <a:spcAft>
                          <a:spcPts val="0"/>
                        </a:spcAft>
                        <a:buNone/>
                      </a:pPr>
                      <a:r>
                        <a:rPr lang="en-US"/>
                        <a:t>S204</a:t>
                      </a:r>
                      <a:endParaRPr/>
                    </a:p>
                  </a:txBody>
                  <a:tcPr marT="91425" marB="91425" marR="91425" marL="91425"/>
                </a:tc>
                <a:tc>
                  <a:txBody>
                    <a:bodyPr/>
                    <a:lstStyle/>
                    <a:p>
                      <a:pPr indent="0" lvl="0" marL="0" rtl="0" algn="l">
                        <a:spcBef>
                          <a:spcPts val="0"/>
                        </a:spcBef>
                        <a:spcAft>
                          <a:spcPts val="0"/>
                        </a:spcAft>
                        <a:buNone/>
                      </a:pPr>
                      <a:r>
                        <a:rPr lang="en-US"/>
                        <a:t>5</a:t>
                      </a:r>
                      <a:endParaRPr/>
                    </a:p>
                  </a:txBody>
                  <a:tcPr marT="91425" marB="91425" marR="91425" marL="91425"/>
                </a:tc>
                <a:tc>
                  <a:txBody>
                    <a:bodyPr/>
                    <a:lstStyle/>
                    <a:p>
                      <a:pPr indent="0" lvl="0" marL="0" rtl="0" algn="l">
                        <a:spcBef>
                          <a:spcPts val="0"/>
                        </a:spcBef>
                        <a:spcAft>
                          <a:spcPts val="0"/>
                        </a:spcAft>
                        <a:buNone/>
                      </a:pPr>
                      <a:r>
                        <a:rPr lang="en-US"/>
                        <a:t>0</a:t>
                      </a:r>
                      <a:endParaRPr/>
                    </a:p>
                  </a:txBody>
                  <a:tcPr marT="91425" marB="91425" marR="91425" marL="91425"/>
                </a:tc>
              </a:tr>
              <a:tr h="140450">
                <a:tc>
                  <a:txBody>
                    <a:bodyPr/>
                    <a:lstStyle/>
                    <a:p>
                      <a:pPr indent="0" lvl="0" marL="0" rtl="0" algn="l">
                        <a:spcBef>
                          <a:spcPts val="0"/>
                        </a:spcBef>
                        <a:spcAft>
                          <a:spcPts val="0"/>
                        </a:spcAft>
                        <a:buNone/>
                      </a:pPr>
                      <a:r>
                        <a:rPr lang="en-US"/>
                        <a:t>S330</a:t>
                      </a:r>
                      <a:endParaRPr/>
                    </a:p>
                  </a:txBody>
                  <a:tcPr marT="91425" marB="91425" marR="91425" marL="91425"/>
                </a:tc>
                <a:tc>
                  <a:txBody>
                    <a:bodyPr/>
                    <a:lstStyle/>
                    <a:p>
                      <a:pPr indent="0" lvl="0" marL="0" rtl="0" algn="l">
                        <a:spcBef>
                          <a:spcPts val="0"/>
                        </a:spcBef>
                        <a:spcAft>
                          <a:spcPts val="0"/>
                        </a:spcAft>
                        <a:buNone/>
                      </a:pPr>
                      <a:r>
                        <a:rPr lang="en-US"/>
                        <a:t>2</a:t>
                      </a:r>
                      <a:endParaRPr/>
                    </a:p>
                  </a:txBody>
                  <a:tcPr marT="91425" marB="91425" marR="91425" marL="91425"/>
                </a:tc>
                <a:tc>
                  <a:txBody>
                    <a:bodyPr/>
                    <a:lstStyle/>
                    <a:p>
                      <a:pPr indent="0" lvl="0" marL="0" rtl="0" algn="l">
                        <a:spcBef>
                          <a:spcPts val="0"/>
                        </a:spcBef>
                        <a:spcAft>
                          <a:spcPts val="0"/>
                        </a:spcAft>
                        <a:buNone/>
                      </a:pPr>
                      <a:r>
                        <a:rPr lang="en-US"/>
                        <a:t>3</a:t>
                      </a:r>
                      <a:endParaRPr/>
                    </a:p>
                  </a:txBody>
                  <a:tcPr marT="91425" marB="91425" marR="91425" marL="91425"/>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g3af221e023e_0_2628"/>
          <p:cNvSpPr txBox="1"/>
          <p:nvPr>
            <p:ph type="title"/>
          </p:nvPr>
        </p:nvSpPr>
        <p:spPr>
          <a:xfrm>
            <a:off x="311725" y="667900"/>
            <a:ext cx="8520600" cy="8316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sz="4400"/>
              <a:t>Machine Learning Problem &amp; Features</a:t>
            </a:r>
            <a:endParaRPr/>
          </a:p>
        </p:txBody>
      </p:sp>
      <p:sp>
        <p:nvSpPr>
          <p:cNvPr id="120" name="Google Shape;120;g3af221e023e_0_2628"/>
          <p:cNvSpPr txBox="1"/>
          <p:nvPr>
            <p:ph idx="4294967295" type="body"/>
          </p:nvPr>
        </p:nvSpPr>
        <p:spPr>
          <a:xfrm>
            <a:off x="457200" y="2096475"/>
            <a:ext cx="8229600" cy="4029900"/>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spcBef>
                <a:spcPts val="0"/>
              </a:spcBef>
              <a:spcAft>
                <a:spcPts val="0"/>
              </a:spcAft>
              <a:buNone/>
            </a:pPr>
            <a:r>
              <a:rPr lang="en-US" sz="3200">
                <a:solidFill>
                  <a:schemeClr val="dk1"/>
                </a:solidFill>
                <a:latin typeface="Merriweather"/>
                <a:ea typeface="Merriweather"/>
                <a:cs typeface="Merriweather"/>
                <a:sym typeface="Merriweather"/>
              </a:rPr>
              <a:t>Machine Learning (ML) Problem:</a:t>
            </a:r>
            <a:endParaRPr>
              <a:latin typeface="Merriweather"/>
              <a:ea typeface="Merriweather"/>
              <a:cs typeface="Merriweather"/>
              <a:sym typeface="Merriweather"/>
            </a:endParaRPr>
          </a:p>
          <a:p>
            <a:pPr indent="-281940" lvl="0" marL="342900" rtl="0" algn="l">
              <a:spcBef>
                <a:spcPts val="640"/>
              </a:spcBef>
              <a:spcAft>
                <a:spcPts val="0"/>
              </a:spcAft>
              <a:buClr>
                <a:schemeClr val="dk1"/>
              </a:buClr>
              <a:buSzPct val="100000"/>
              <a:buFont typeface="Merriweather"/>
              <a:buChar char="●"/>
            </a:pPr>
            <a:r>
              <a:rPr lang="en-US" sz="3200">
                <a:solidFill>
                  <a:schemeClr val="dk1"/>
                </a:solidFill>
                <a:latin typeface="Merriweather"/>
                <a:ea typeface="Merriweather"/>
                <a:cs typeface="Merriweather"/>
                <a:sym typeface="Merriweather"/>
              </a:rPr>
              <a:t>Predict which students may be academically at risk.</a:t>
            </a:r>
            <a:endParaRPr>
              <a:latin typeface="Merriweather"/>
              <a:ea typeface="Merriweather"/>
              <a:cs typeface="Merriweather"/>
              <a:sym typeface="Merriweather"/>
            </a:endParaRPr>
          </a:p>
          <a:p>
            <a:pPr indent="-281940" lvl="0" marL="342900" rtl="0" algn="l">
              <a:spcBef>
                <a:spcPts val="640"/>
              </a:spcBef>
              <a:spcAft>
                <a:spcPts val="0"/>
              </a:spcAft>
              <a:buClr>
                <a:schemeClr val="dk1"/>
              </a:buClr>
              <a:buSzPct val="100000"/>
              <a:buFont typeface="Merriweather"/>
              <a:buChar char="●"/>
            </a:pPr>
            <a:r>
              <a:rPr lang="en-US" sz="3200">
                <a:solidFill>
                  <a:schemeClr val="dk1"/>
                </a:solidFill>
                <a:latin typeface="Merriweather"/>
                <a:ea typeface="Merriweather"/>
                <a:cs typeface="Merriweather"/>
                <a:sym typeface="Merriweather"/>
              </a:rPr>
              <a:t>Binary classification using performance and engagement data.</a:t>
            </a:r>
            <a:endParaRPr>
              <a:latin typeface="Merriweather"/>
              <a:ea typeface="Merriweather"/>
              <a:cs typeface="Merriweather"/>
              <a:sym typeface="Merriweather"/>
            </a:endParaRPr>
          </a:p>
          <a:p>
            <a:pPr indent="-139700" lvl="0" marL="342900" rtl="0" algn="l">
              <a:spcBef>
                <a:spcPts val="640"/>
              </a:spcBef>
              <a:spcAft>
                <a:spcPts val="0"/>
              </a:spcAft>
              <a:buClr>
                <a:schemeClr val="dk1"/>
              </a:buClr>
              <a:buSzPct val="100000"/>
              <a:buNone/>
            </a:pPr>
            <a:r>
              <a:t/>
            </a:r>
            <a:endParaRPr sz="3200">
              <a:solidFill>
                <a:schemeClr val="dk1"/>
              </a:solidFill>
              <a:latin typeface="Merriweather"/>
              <a:ea typeface="Merriweather"/>
              <a:cs typeface="Merriweather"/>
              <a:sym typeface="Merriweather"/>
            </a:endParaRPr>
          </a:p>
          <a:p>
            <a:pPr indent="0" lvl="0" marL="0" rtl="0" algn="l">
              <a:spcBef>
                <a:spcPts val="640"/>
              </a:spcBef>
              <a:spcAft>
                <a:spcPts val="0"/>
              </a:spcAft>
              <a:buNone/>
            </a:pPr>
            <a:r>
              <a:rPr lang="en-US" sz="3200">
                <a:solidFill>
                  <a:schemeClr val="dk1"/>
                </a:solidFill>
                <a:latin typeface="Merriweather"/>
                <a:ea typeface="Merriweather"/>
                <a:cs typeface="Merriweather"/>
                <a:sym typeface="Merriweather"/>
              </a:rPr>
              <a:t>Key Features Used:</a:t>
            </a:r>
            <a:endParaRPr>
              <a:latin typeface="Merriweather"/>
              <a:ea typeface="Merriweather"/>
              <a:cs typeface="Merriweather"/>
              <a:sym typeface="Merriweather"/>
            </a:endParaRPr>
          </a:p>
          <a:p>
            <a:pPr indent="-281940" lvl="0" marL="342900" rtl="0" algn="l">
              <a:spcBef>
                <a:spcPts val="640"/>
              </a:spcBef>
              <a:spcAft>
                <a:spcPts val="0"/>
              </a:spcAft>
              <a:buClr>
                <a:schemeClr val="dk1"/>
              </a:buClr>
              <a:buSzPct val="100000"/>
              <a:buFont typeface="Merriweather"/>
              <a:buChar char="●"/>
            </a:pPr>
            <a:r>
              <a:rPr lang="en-US" sz="3200">
                <a:solidFill>
                  <a:schemeClr val="dk1"/>
                </a:solidFill>
                <a:latin typeface="Merriweather"/>
                <a:ea typeface="Merriweather"/>
                <a:cs typeface="Merriweather"/>
                <a:sym typeface="Merriweather"/>
              </a:rPr>
              <a:t>Assignment averages and score ranges</a:t>
            </a:r>
            <a:endParaRPr>
              <a:latin typeface="Merriweather"/>
              <a:ea typeface="Merriweather"/>
              <a:cs typeface="Merriweather"/>
              <a:sym typeface="Merriweather"/>
            </a:endParaRPr>
          </a:p>
          <a:p>
            <a:pPr indent="-281940" lvl="0" marL="342900" rtl="0" algn="l">
              <a:spcBef>
                <a:spcPts val="640"/>
              </a:spcBef>
              <a:spcAft>
                <a:spcPts val="0"/>
              </a:spcAft>
              <a:buClr>
                <a:schemeClr val="dk1"/>
              </a:buClr>
              <a:buSzPct val="100000"/>
              <a:buFont typeface="Merriweather"/>
              <a:buChar char="●"/>
            </a:pPr>
            <a:r>
              <a:rPr lang="en-US" sz="3200">
                <a:solidFill>
                  <a:schemeClr val="dk1"/>
                </a:solidFill>
                <a:latin typeface="Merriweather"/>
                <a:ea typeface="Merriweather"/>
                <a:cs typeface="Merriweather"/>
                <a:sym typeface="Merriweather"/>
              </a:rPr>
              <a:t>Quiz averages and number of attempts</a:t>
            </a:r>
            <a:endParaRPr>
              <a:latin typeface="Merriweather"/>
              <a:ea typeface="Merriweather"/>
              <a:cs typeface="Merriweather"/>
              <a:sym typeface="Merriweather"/>
            </a:endParaRPr>
          </a:p>
          <a:p>
            <a:pPr indent="-281940" lvl="0" marL="342900" rtl="0" algn="l">
              <a:spcBef>
                <a:spcPts val="640"/>
              </a:spcBef>
              <a:spcAft>
                <a:spcPts val="0"/>
              </a:spcAft>
              <a:buClr>
                <a:schemeClr val="dk1"/>
              </a:buClr>
              <a:buSzPct val="100000"/>
              <a:buFont typeface="Merriweather"/>
              <a:buChar char="●"/>
            </a:pPr>
            <a:r>
              <a:rPr lang="en-US" sz="3200">
                <a:solidFill>
                  <a:schemeClr val="dk1"/>
                </a:solidFill>
                <a:latin typeface="Merriweather"/>
                <a:ea typeface="Merriweather"/>
                <a:cs typeface="Merriweather"/>
                <a:sym typeface="Merriweather"/>
              </a:rPr>
              <a:t>Total submissions and late submissions</a:t>
            </a:r>
            <a:endParaRPr>
              <a:latin typeface="Merriweather"/>
              <a:ea typeface="Merriweather"/>
              <a:cs typeface="Merriweather"/>
              <a:sym typeface="Merriweather"/>
            </a:endParaRPr>
          </a:p>
          <a:p>
            <a:pPr indent="-281940" lvl="0" marL="342900" rtl="0" algn="l">
              <a:spcBef>
                <a:spcPts val="640"/>
              </a:spcBef>
              <a:spcAft>
                <a:spcPts val="1200"/>
              </a:spcAft>
              <a:buClr>
                <a:schemeClr val="dk1"/>
              </a:buClr>
              <a:buSzPct val="100000"/>
              <a:buFont typeface="Merriweather"/>
              <a:buChar char="●"/>
            </a:pPr>
            <a:r>
              <a:rPr lang="en-US" sz="3200">
                <a:solidFill>
                  <a:schemeClr val="dk1"/>
                </a:solidFill>
                <a:latin typeface="Merriweather"/>
                <a:ea typeface="Merriweather"/>
                <a:cs typeface="Merriweather"/>
                <a:sym typeface="Merriweather"/>
              </a:rPr>
              <a:t>Number of course enrollments</a:t>
            </a:r>
            <a:endParaRPr>
              <a:latin typeface="Merriweather"/>
              <a:ea typeface="Merriweather"/>
              <a:cs typeface="Merriweather"/>
              <a:sym typeface="Merriweath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g3af221e023e_0_2633"/>
          <p:cNvSpPr txBox="1"/>
          <p:nvPr>
            <p:ph type="title"/>
          </p:nvPr>
        </p:nvSpPr>
        <p:spPr>
          <a:xfrm>
            <a:off x="311725" y="667900"/>
            <a:ext cx="8520600" cy="8316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sz="4800"/>
              <a:t>Model Evaluation Metrics</a:t>
            </a:r>
            <a:endParaRPr b="1" sz="3200"/>
          </a:p>
        </p:txBody>
      </p:sp>
      <p:sp>
        <p:nvSpPr>
          <p:cNvPr id="126" name="Google Shape;126;g3af221e023e_0_2633"/>
          <p:cNvSpPr txBox="1"/>
          <p:nvPr>
            <p:ph idx="4294967295" type="body"/>
          </p:nvPr>
        </p:nvSpPr>
        <p:spPr>
          <a:xfrm>
            <a:off x="457200" y="2026975"/>
            <a:ext cx="8229600" cy="4099200"/>
          </a:xfrm>
          <a:prstGeom prst="rect">
            <a:avLst/>
          </a:prstGeom>
          <a:noFill/>
          <a:ln>
            <a:noFill/>
          </a:ln>
        </p:spPr>
        <p:txBody>
          <a:bodyPr anchorCtr="0" anchor="t" bIns="45700" lIns="91425" spcFirstLastPara="1" rIns="91425" wrap="square" tIns="45700">
            <a:normAutofit fontScale="62500"/>
          </a:bodyPr>
          <a:lstStyle/>
          <a:p>
            <a:pPr indent="0" lvl="0" marL="0" rtl="0" algn="l">
              <a:spcBef>
                <a:spcPts val="0"/>
              </a:spcBef>
              <a:spcAft>
                <a:spcPts val="0"/>
              </a:spcAft>
              <a:buNone/>
            </a:pPr>
            <a:r>
              <a:rPr lang="en-US" sz="3200">
                <a:solidFill>
                  <a:schemeClr val="dk1"/>
                </a:solidFill>
                <a:latin typeface="Merriweather"/>
                <a:ea typeface="Merriweather"/>
                <a:cs typeface="Merriweather"/>
                <a:sym typeface="Merriweather"/>
              </a:rPr>
              <a:t>Metrics Used for Classification:</a:t>
            </a:r>
            <a:endParaRPr>
              <a:latin typeface="Merriweather"/>
              <a:ea typeface="Merriweather"/>
              <a:cs typeface="Merriweather"/>
              <a:sym typeface="Merriweather"/>
            </a:endParaRPr>
          </a:p>
          <a:p>
            <a:pPr indent="-266700" lvl="0" marL="342900" rtl="0" algn="l">
              <a:spcBef>
                <a:spcPts val="640"/>
              </a:spcBef>
              <a:spcAft>
                <a:spcPts val="0"/>
              </a:spcAft>
              <a:buClr>
                <a:schemeClr val="dk1"/>
              </a:buClr>
              <a:buSzPct val="100000"/>
              <a:buFont typeface="Merriweather"/>
              <a:buChar char="●"/>
            </a:pPr>
            <a:r>
              <a:rPr lang="en-US" sz="3200">
                <a:solidFill>
                  <a:schemeClr val="dk1"/>
                </a:solidFill>
                <a:latin typeface="Merriweather"/>
                <a:ea typeface="Merriweather"/>
                <a:cs typeface="Merriweather"/>
                <a:sym typeface="Merriweather"/>
              </a:rPr>
              <a:t>Accuracy: Overall correctness of predictions</a:t>
            </a:r>
            <a:endParaRPr>
              <a:latin typeface="Merriweather"/>
              <a:ea typeface="Merriweather"/>
              <a:cs typeface="Merriweather"/>
              <a:sym typeface="Merriweather"/>
            </a:endParaRPr>
          </a:p>
          <a:p>
            <a:pPr indent="-266700" lvl="0" marL="342900" rtl="0" algn="l">
              <a:spcBef>
                <a:spcPts val="640"/>
              </a:spcBef>
              <a:spcAft>
                <a:spcPts val="0"/>
              </a:spcAft>
              <a:buClr>
                <a:schemeClr val="dk1"/>
              </a:buClr>
              <a:buSzPct val="100000"/>
              <a:buFont typeface="Merriweather"/>
              <a:buChar char="●"/>
            </a:pPr>
            <a:r>
              <a:rPr lang="en-US" sz="3200">
                <a:solidFill>
                  <a:schemeClr val="dk1"/>
                </a:solidFill>
                <a:latin typeface="Merriweather"/>
                <a:ea typeface="Merriweather"/>
                <a:cs typeface="Merriweather"/>
                <a:sym typeface="Merriweather"/>
              </a:rPr>
              <a:t>F1 Score: Balance between precision and recall</a:t>
            </a:r>
            <a:endParaRPr>
              <a:latin typeface="Merriweather"/>
              <a:ea typeface="Merriweather"/>
              <a:cs typeface="Merriweather"/>
              <a:sym typeface="Merriweather"/>
            </a:endParaRPr>
          </a:p>
          <a:p>
            <a:pPr indent="-266700" lvl="0" marL="342900" rtl="0" algn="l">
              <a:spcBef>
                <a:spcPts val="640"/>
              </a:spcBef>
              <a:spcAft>
                <a:spcPts val="0"/>
              </a:spcAft>
              <a:buClr>
                <a:schemeClr val="dk1"/>
              </a:buClr>
              <a:buSzPct val="100000"/>
              <a:buFont typeface="Merriweather"/>
              <a:buChar char="●"/>
            </a:pPr>
            <a:r>
              <a:rPr lang="en-US" sz="3200">
                <a:solidFill>
                  <a:schemeClr val="dk1"/>
                </a:solidFill>
                <a:latin typeface="Merriweather"/>
                <a:ea typeface="Merriweather"/>
                <a:cs typeface="Merriweather"/>
                <a:sym typeface="Merriweather"/>
              </a:rPr>
              <a:t>AUC: Ability to distinguish at-risk vs not-at-risk students</a:t>
            </a:r>
            <a:endParaRPr>
              <a:latin typeface="Merriweather"/>
              <a:ea typeface="Merriweather"/>
              <a:cs typeface="Merriweather"/>
              <a:sym typeface="Merriweather"/>
            </a:endParaRPr>
          </a:p>
          <a:p>
            <a:pPr indent="-139700" lvl="0" marL="342900" rtl="0" algn="l">
              <a:spcBef>
                <a:spcPts val="640"/>
              </a:spcBef>
              <a:spcAft>
                <a:spcPts val="0"/>
              </a:spcAft>
              <a:buClr>
                <a:schemeClr val="dk1"/>
              </a:buClr>
              <a:buSzPct val="100000"/>
              <a:buNone/>
            </a:pPr>
            <a:r>
              <a:t/>
            </a:r>
            <a:endParaRPr sz="3200">
              <a:solidFill>
                <a:schemeClr val="dk1"/>
              </a:solidFill>
              <a:latin typeface="Merriweather"/>
              <a:ea typeface="Merriweather"/>
              <a:cs typeface="Merriweather"/>
              <a:sym typeface="Merriweather"/>
            </a:endParaRPr>
          </a:p>
          <a:p>
            <a:pPr indent="0" lvl="0" marL="0" rtl="0" algn="l">
              <a:spcBef>
                <a:spcPts val="640"/>
              </a:spcBef>
              <a:spcAft>
                <a:spcPts val="0"/>
              </a:spcAft>
              <a:buNone/>
            </a:pPr>
            <a:r>
              <a:rPr lang="en-US" sz="3200">
                <a:solidFill>
                  <a:schemeClr val="dk1"/>
                </a:solidFill>
                <a:latin typeface="Merriweather"/>
                <a:ea typeface="Merriweather"/>
                <a:cs typeface="Merriweather"/>
                <a:sym typeface="Merriweather"/>
              </a:rPr>
              <a:t>Why These Metrics Matter:</a:t>
            </a:r>
            <a:endParaRPr>
              <a:latin typeface="Merriweather"/>
              <a:ea typeface="Merriweather"/>
              <a:cs typeface="Merriweather"/>
              <a:sym typeface="Merriweather"/>
            </a:endParaRPr>
          </a:p>
          <a:p>
            <a:pPr indent="-266700" lvl="0" marL="342900" rtl="0" algn="l">
              <a:spcBef>
                <a:spcPts val="640"/>
              </a:spcBef>
              <a:spcAft>
                <a:spcPts val="0"/>
              </a:spcAft>
              <a:buClr>
                <a:schemeClr val="dk1"/>
              </a:buClr>
              <a:buSzPct val="100000"/>
              <a:buFont typeface="Merriweather"/>
              <a:buChar char="●"/>
            </a:pPr>
            <a:r>
              <a:rPr lang="en-US" sz="3200">
                <a:solidFill>
                  <a:schemeClr val="dk1"/>
                </a:solidFill>
                <a:latin typeface="Merriweather"/>
                <a:ea typeface="Merriweather"/>
                <a:cs typeface="Merriweather"/>
                <a:sym typeface="Merriweather"/>
              </a:rPr>
              <a:t>Support early identification of risk patterns</a:t>
            </a:r>
            <a:endParaRPr>
              <a:latin typeface="Merriweather"/>
              <a:ea typeface="Merriweather"/>
              <a:cs typeface="Merriweather"/>
              <a:sym typeface="Merriweather"/>
            </a:endParaRPr>
          </a:p>
          <a:p>
            <a:pPr indent="-266700" lvl="0" marL="342900" rtl="0" algn="l">
              <a:spcBef>
                <a:spcPts val="640"/>
              </a:spcBef>
              <a:spcAft>
                <a:spcPts val="0"/>
              </a:spcAft>
              <a:buClr>
                <a:schemeClr val="dk1"/>
              </a:buClr>
              <a:buSzPct val="100000"/>
              <a:buFont typeface="Merriweather"/>
              <a:buChar char="●"/>
            </a:pPr>
            <a:r>
              <a:rPr lang="en-US" sz="3200">
                <a:solidFill>
                  <a:schemeClr val="dk1"/>
                </a:solidFill>
                <a:latin typeface="Merriweather"/>
                <a:ea typeface="Merriweather"/>
                <a:cs typeface="Merriweather"/>
                <a:sym typeface="Merriweather"/>
              </a:rPr>
              <a:t>Show tradeoffs between false positives and false negatives</a:t>
            </a:r>
            <a:endParaRPr>
              <a:latin typeface="Merriweather"/>
              <a:ea typeface="Merriweather"/>
              <a:cs typeface="Merriweather"/>
              <a:sym typeface="Merriweather"/>
            </a:endParaRPr>
          </a:p>
          <a:p>
            <a:pPr indent="-266700" lvl="0" marL="342900" rtl="0" algn="l">
              <a:spcBef>
                <a:spcPts val="640"/>
              </a:spcBef>
              <a:spcAft>
                <a:spcPts val="1200"/>
              </a:spcAft>
              <a:buClr>
                <a:schemeClr val="dk1"/>
              </a:buClr>
              <a:buSzPct val="100000"/>
              <a:buFont typeface="Merriweather"/>
              <a:buChar char="●"/>
            </a:pPr>
            <a:r>
              <a:rPr lang="en-US" sz="3200">
                <a:solidFill>
                  <a:schemeClr val="dk1"/>
                </a:solidFill>
                <a:latin typeface="Merriweather"/>
                <a:ea typeface="Merriweather"/>
                <a:cs typeface="Merriweather"/>
                <a:sym typeface="Merriweather"/>
              </a:rPr>
              <a:t>Help evaluate model reliability</a:t>
            </a:r>
            <a:endParaRPr>
              <a:latin typeface="Merriweather"/>
              <a:ea typeface="Merriweather"/>
              <a:cs typeface="Merriweather"/>
              <a:sym typeface="Merriweathe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g3af221e023e_0_2713"/>
          <p:cNvSpPr txBox="1"/>
          <p:nvPr>
            <p:ph type="title"/>
          </p:nvPr>
        </p:nvSpPr>
        <p:spPr>
          <a:xfrm>
            <a:off x="311725" y="404200"/>
            <a:ext cx="8520600" cy="10953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400"/>
              <a:buFont typeface="Calibri"/>
              <a:buNone/>
            </a:pPr>
            <a:r>
              <a:rPr b="1" lang="en-US" sz="3800"/>
              <a:t>Feature Importance Plot</a:t>
            </a:r>
            <a:endParaRPr b="1" sz="3800"/>
          </a:p>
          <a:p>
            <a:pPr indent="0" lvl="0" marL="0" rtl="0" algn="ctr">
              <a:spcBef>
                <a:spcPts val="0"/>
              </a:spcBef>
              <a:spcAft>
                <a:spcPts val="0"/>
              </a:spcAft>
              <a:buClr>
                <a:schemeClr val="dk1"/>
              </a:buClr>
              <a:buSzPts val="4400"/>
              <a:buFont typeface="Calibri"/>
              <a:buNone/>
            </a:pPr>
            <a:r>
              <a:rPr b="1" lang="en-US" sz="3800"/>
              <a:t> (Logistic Regression)</a:t>
            </a:r>
            <a:endParaRPr b="1" sz="3800"/>
          </a:p>
        </p:txBody>
      </p:sp>
      <p:sp>
        <p:nvSpPr>
          <p:cNvPr id="132" name="Google Shape;132;g3af221e023e_0_2713"/>
          <p:cNvSpPr txBox="1"/>
          <p:nvPr>
            <p:ph idx="4294967295" type="body"/>
          </p:nvPr>
        </p:nvSpPr>
        <p:spPr>
          <a:xfrm>
            <a:off x="5598475" y="1822750"/>
            <a:ext cx="3224400" cy="4579800"/>
          </a:xfrm>
          <a:prstGeom prst="rect">
            <a:avLst/>
          </a:prstGeom>
          <a:noFill/>
          <a:ln>
            <a:noFill/>
          </a:ln>
        </p:spPr>
        <p:txBody>
          <a:bodyPr anchorCtr="0" anchor="t" bIns="45700" lIns="91425" spcFirstLastPara="1" rIns="91425" wrap="square" tIns="45700">
            <a:normAutofit fontScale="62500"/>
          </a:bodyPr>
          <a:lstStyle/>
          <a:p>
            <a:pPr indent="-266700" lvl="0" marL="342900" rtl="0" algn="l">
              <a:spcBef>
                <a:spcPts val="0"/>
              </a:spcBef>
              <a:spcAft>
                <a:spcPts val="0"/>
              </a:spcAft>
              <a:buClr>
                <a:schemeClr val="dk1"/>
              </a:buClr>
              <a:buSzPct val="100000"/>
              <a:buFont typeface="Merriweather"/>
              <a:buChar char="●"/>
            </a:pPr>
            <a:r>
              <a:rPr lang="en-US" sz="3200">
                <a:solidFill>
                  <a:schemeClr val="dk1"/>
                </a:solidFill>
                <a:latin typeface="Merriweather"/>
                <a:ea typeface="Merriweather"/>
                <a:cs typeface="Merriweather"/>
                <a:sym typeface="Merriweather"/>
              </a:rPr>
              <a:t>Shows which features contribute most to predicting at-risk students.</a:t>
            </a:r>
            <a:endParaRPr>
              <a:latin typeface="Merriweather"/>
              <a:ea typeface="Merriweather"/>
              <a:cs typeface="Merriweather"/>
              <a:sym typeface="Merriweather"/>
            </a:endParaRPr>
          </a:p>
          <a:p>
            <a:pPr indent="-266700" lvl="0" marL="342900" rtl="0" algn="l">
              <a:spcBef>
                <a:spcPts val="640"/>
              </a:spcBef>
              <a:spcAft>
                <a:spcPts val="0"/>
              </a:spcAft>
              <a:buClr>
                <a:schemeClr val="dk1"/>
              </a:buClr>
              <a:buSzPct val="100000"/>
              <a:buFont typeface="Merriweather"/>
              <a:buChar char="●"/>
            </a:pPr>
            <a:r>
              <a:rPr lang="en-US" sz="3200">
                <a:solidFill>
                  <a:schemeClr val="dk1"/>
                </a:solidFill>
                <a:latin typeface="Merriweather"/>
                <a:ea typeface="Merriweather"/>
                <a:cs typeface="Merriweather"/>
                <a:sym typeface="Merriweather"/>
              </a:rPr>
              <a:t>Highlights top drivers like late submissions, assignment scores, and quiz averages.</a:t>
            </a:r>
            <a:endParaRPr>
              <a:latin typeface="Merriweather"/>
              <a:ea typeface="Merriweather"/>
              <a:cs typeface="Merriweather"/>
              <a:sym typeface="Merriweather"/>
            </a:endParaRPr>
          </a:p>
          <a:p>
            <a:pPr indent="-266700" lvl="0" marL="342900" rtl="0" algn="l">
              <a:spcBef>
                <a:spcPts val="640"/>
              </a:spcBef>
              <a:spcAft>
                <a:spcPts val="1200"/>
              </a:spcAft>
              <a:buClr>
                <a:schemeClr val="dk1"/>
              </a:buClr>
              <a:buSzPct val="100000"/>
              <a:buFont typeface="Merriweather"/>
              <a:buChar char="●"/>
            </a:pPr>
            <a:r>
              <a:rPr lang="en-US" sz="3200">
                <a:solidFill>
                  <a:schemeClr val="dk1"/>
                </a:solidFill>
                <a:latin typeface="Merriweather"/>
                <a:ea typeface="Merriweather"/>
                <a:cs typeface="Merriweather"/>
                <a:sym typeface="Merriweather"/>
              </a:rPr>
              <a:t>Used to understand model transparency and guide interventions.</a:t>
            </a:r>
            <a:endParaRPr>
              <a:latin typeface="Merriweather"/>
              <a:ea typeface="Merriweather"/>
              <a:cs typeface="Merriweather"/>
              <a:sym typeface="Merriweather"/>
            </a:endParaRPr>
          </a:p>
        </p:txBody>
      </p:sp>
      <p:pic>
        <p:nvPicPr>
          <p:cNvPr id="133" name="Google Shape;133;g3af221e023e_0_2713" title="logistic_feature_importance (2).jpeg"/>
          <p:cNvPicPr preferRelativeResize="0"/>
          <p:nvPr/>
        </p:nvPicPr>
        <p:blipFill>
          <a:blip r:embed="rId3">
            <a:alphaModFix/>
          </a:blip>
          <a:stretch>
            <a:fillRect/>
          </a:stretch>
        </p:blipFill>
        <p:spPr>
          <a:xfrm>
            <a:off x="117575" y="2377625"/>
            <a:ext cx="5116375" cy="34689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g3af221e023e_0_2718"/>
          <p:cNvSpPr txBox="1"/>
          <p:nvPr>
            <p:ph type="title"/>
          </p:nvPr>
        </p:nvSpPr>
        <p:spPr>
          <a:xfrm>
            <a:off x="311725" y="667900"/>
            <a:ext cx="8520600" cy="8316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400"/>
              <a:buFont typeface="Calibri"/>
              <a:buNone/>
            </a:pPr>
            <a:r>
              <a:rPr b="1" lang="en-US" sz="4900"/>
              <a:t>ROC Curve Comparison</a:t>
            </a:r>
            <a:endParaRPr b="1" sz="3300"/>
          </a:p>
        </p:txBody>
      </p:sp>
      <p:sp>
        <p:nvSpPr>
          <p:cNvPr id="139" name="Google Shape;139;g3af221e023e_0_2718"/>
          <p:cNvSpPr txBox="1"/>
          <p:nvPr>
            <p:ph idx="4294967295" type="body"/>
          </p:nvPr>
        </p:nvSpPr>
        <p:spPr>
          <a:xfrm>
            <a:off x="5022275" y="1791800"/>
            <a:ext cx="3664500" cy="4334400"/>
          </a:xfrm>
          <a:prstGeom prst="rect">
            <a:avLst/>
          </a:prstGeom>
          <a:noFill/>
          <a:ln>
            <a:noFill/>
          </a:ln>
        </p:spPr>
        <p:txBody>
          <a:bodyPr anchorCtr="0" anchor="t" bIns="45700" lIns="91425" spcFirstLastPara="1" rIns="91425" wrap="square" tIns="45700">
            <a:normAutofit fontScale="70000" lnSpcReduction="20000"/>
          </a:bodyPr>
          <a:lstStyle/>
          <a:p>
            <a:pPr indent="-281940" lvl="0" marL="342900" rtl="0" algn="l">
              <a:spcBef>
                <a:spcPts val="0"/>
              </a:spcBef>
              <a:spcAft>
                <a:spcPts val="0"/>
              </a:spcAft>
              <a:buClr>
                <a:schemeClr val="dk1"/>
              </a:buClr>
              <a:buSzPct val="100000"/>
              <a:buFont typeface="Merriweather"/>
              <a:buChar char="●"/>
            </a:pPr>
            <a:r>
              <a:rPr lang="en-US" sz="3200">
                <a:solidFill>
                  <a:schemeClr val="dk1"/>
                </a:solidFill>
                <a:latin typeface="Merriweather"/>
                <a:ea typeface="Merriweather"/>
                <a:cs typeface="Merriweather"/>
                <a:sym typeface="Merriweather"/>
              </a:rPr>
              <a:t>Compares ROC curves for Logistic Regression vs Random Forest.</a:t>
            </a:r>
            <a:endParaRPr>
              <a:latin typeface="Merriweather"/>
              <a:ea typeface="Merriweather"/>
              <a:cs typeface="Merriweather"/>
              <a:sym typeface="Merriweather"/>
            </a:endParaRPr>
          </a:p>
          <a:p>
            <a:pPr indent="-281940" lvl="0" marL="342900" rtl="0" algn="l">
              <a:spcBef>
                <a:spcPts val="640"/>
              </a:spcBef>
              <a:spcAft>
                <a:spcPts val="0"/>
              </a:spcAft>
              <a:buClr>
                <a:schemeClr val="dk1"/>
              </a:buClr>
              <a:buSzPct val="100000"/>
              <a:buFont typeface="Merriweather"/>
              <a:buChar char="●"/>
            </a:pPr>
            <a:r>
              <a:rPr lang="en-US" sz="3200">
                <a:solidFill>
                  <a:schemeClr val="dk1"/>
                </a:solidFill>
                <a:latin typeface="Merriweather"/>
                <a:ea typeface="Merriweather"/>
                <a:cs typeface="Merriweather"/>
                <a:sym typeface="Merriweather"/>
              </a:rPr>
              <a:t>Shows how well each model separates at-risk vs not-at-risk students.</a:t>
            </a:r>
            <a:endParaRPr>
              <a:latin typeface="Merriweather"/>
              <a:ea typeface="Merriweather"/>
              <a:cs typeface="Merriweather"/>
              <a:sym typeface="Merriweather"/>
            </a:endParaRPr>
          </a:p>
          <a:p>
            <a:pPr indent="-281940" lvl="0" marL="342900" rtl="0" algn="l">
              <a:spcBef>
                <a:spcPts val="640"/>
              </a:spcBef>
              <a:spcAft>
                <a:spcPts val="1200"/>
              </a:spcAft>
              <a:buClr>
                <a:schemeClr val="dk1"/>
              </a:buClr>
              <a:buSzPct val="100000"/>
              <a:buFont typeface="Merriweather"/>
              <a:buChar char="●"/>
            </a:pPr>
            <a:r>
              <a:rPr lang="en-US" sz="3200">
                <a:solidFill>
                  <a:schemeClr val="dk1"/>
                </a:solidFill>
                <a:latin typeface="Merriweather"/>
                <a:ea typeface="Merriweather"/>
                <a:cs typeface="Merriweather"/>
                <a:sym typeface="Merriweather"/>
              </a:rPr>
              <a:t>Helps evaluate classification performance across thresholds.</a:t>
            </a:r>
            <a:endParaRPr>
              <a:latin typeface="Merriweather"/>
              <a:ea typeface="Merriweather"/>
              <a:cs typeface="Merriweather"/>
              <a:sym typeface="Merriweather"/>
            </a:endParaRPr>
          </a:p>
        </p:txBody>
      </p:sp>
      <p:pic>
        <p:nvPicPr>
          <p:cNvPr id="140" name="Google Shape;140;g3af221e023e_0_2718" title="roc_comparison (2).jpeg"/>
          <p:cNvPicPr preferRelativeResize="0"/>
          <p:nvPr/>
        </p:nvPicPr>
        <p:blipFill>
          <a:blip r:embed="rId3">
            <a:alphaModFix/>
          </a:blip>
          <a:stretch>
            <a:fillRect/>
          </a:stretch>
        </p:blipFill>
        <p:spPr>
          <a:xfrm>
            <a:off x="152400" y="2109650"/>
            <a:ext cx="4717478" cy="401654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3af221e023e_0_2723"/>
          <p:cNvSpPr txBox="1"/>
          <p:nvPr>
            <p:ph type="title"/>
          </p:nvPr>
        </p:nvSpPr>
        <p:spPr>
          <a:xfrm>
            <a:off x="311725" y="667900"/>
            <a:ext cx="8520600" cy="8316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400"/>
              <a:buFont typeface="Calibri"/>
              <a:buNone/>
            </a:pPr>
            <a:r>
              <a:rPr b="1" lang="en-US" sz="5300"/>
              <a:t>Correlation Heatmap</a:t>
            </a:r>
            <a:endParaRPr b="1" sz="3700"/>
          </a:p>
        </p:txBody>
      </p:sp>
      <p:sp>
        <p:nvSpPr>
          <p:cNvPr id="146" name="Google Shape;146;g3af221e023e_0_2723"/>
          <p:cNvSpPr txBox="1"/>
          <p:nvPr>
            <p:ph idx="4294967295" type="body"/>
          </p:nvPr>
        </p:nvSpPr>
        <p:spPr>
          <a:xfrm>
            <a:off x="5304500" y="2062275"/>
            <a:ext cx="3593700" cy="4064100"/>
          </a:xfrm>
          <a:prstGeom prst="rect">
            <a:avLst/>
          </a:prstGeom>
          <a:noFill/>
          <a:ln>
            <a:noFill/>
          </a:ln>
        </p:spPr>
        <p:txBody>
          <a:bodyPr anchorCtr="0" anchor="t" bIns="45700" lIns="91425" spcFirstLastPara="1" rIns="91425" wrap="square" tIns="45700">
            <a:normAutofit fontScale="62500"/>
          </a:bodyPr>
          <a:lstStyle/>
          <a:p>
            <a:pPr indent="-266700" lvl="0" marL="342900" rtl="0" algn="l">
              <a:spcBef>
                <a:spcPts val="0"/>
              </a:spcBef>
              <a:spcAft>
                <a:spcPts val="0"/>
              </a:spcAft>
              <a:buClr>
                <a:schemeClr val="dk1"/>
              </a:buClr>
              <a:buSzPct val="100000"/>
              <a:buFont typeface="Merriweather"/>
              <a:buChar char="●"/>
            </a:pPr>
            <a:r>
              <a:rPr lang="en-US" sz="3200">
                <a:solidFill>
                  <a:schemeClr val="dk1"/>
                </a:solidFill>
                <a:latin typeface="Merriweather"/>
                <a:ea typeface="Merriweather"/>
                <a:cs typeface="Merriweather"/>
                <a:sym typeface="Merriweather"/>
              </a:rPr>
              <a:t>Shows relationships between performance, engagement, and risk label.</a:t>
            </a:r>
            <a:endParaRPr>
              <a:latin typeface="Merriweather"/>
              <a:ea typeface="Merriweather"/>
              <a:cs typeface="Merriweather"/>
              <a:sym typeface="Merriweather"/>
            </a:endParaRPr>
          </a:p>
          <a:p>
            <a:pPr indent="-266700" lvl="0" marL="342900" rtl="0" algn="l">
              <a:spcBef>
                <a:spcPts val="640"/>
              </a:spcBef>
              <a:spcAft>
                <a:spcPts val="0"/>
              </a:spcAft>
              <a:buClr>
                <a:schemeClr val="dk1"/>
              </a:buClr>
              <a:buSzPct val="100000"/>
              <a:buFont typeface="Merriweather"/>
              <a:buChar char="●"/>
            </a:pPr>
            <a:r>
              <a:rPr lang="en-US" sz="3200">
                <a:solidFill>
                  <a:schemeClr val="dk1"/>
                </a:solidFill>
                <a:latin typeface="Merriweather"/>
                <a:ea typeface="Merriweather"/>
                <a:cs typeface="Merriweather"/>
                <a:sym typeface="Merriweather"/>
              </a:rPr>
              <a:t>Identifies strong patterns such as assignment average and lateness.</a:t>
            </a:r>
            <a:endParaRPr>
              <a:latin typeface="Merriweather"/>
              <a:ea typeface="Merriweather"/>
              <a:cs typeface="Merriweather"/>
              <a:sym typeface="Merriweather"/>
            </a:endParaRPr>
          </a:p>
          <a:p>
            <a:pPr indent="-266700" lvl="0" marL="342900" rtl="0" algn="l">
              <a:spcBef>
                <a:spcPts val="640"/>
              </a:spcBef>
              <a:spcAft>
                <a:spcPts val="1200"/>
              </a:spcAft>
              <a:buClr>
                <a:schemeClr val="dk1"/>
              </a:buClr>
              <a:buSzPct val="100000"/>
              <a:buFont typeface="Merriweather"/>
              <a:buChar char="●"/>
            </a:pPr>
            <a:r>
              <a:rPr lang="en-US" sz="3200">
                <a:solidFill>
                  <a:schemeClr val="dk1"/>
                </a:solidFill>
                <a:latin typeface="Merriweather"/>
                <a:ea typeface="Merriweather"/>
                <a:cs typeface="Merriweather"/>
                <a:sym typeface="Merriweather"/>
              </a:rPr>
              <a:t>Helps understand feature interactions and dataset structure.</a:t>
            </a:r>
            <a:endParaRPr>
              <a:latin typeface="Merriweather"/>
              <a:ea typeface="Merriweather"/>
              <a:cs typeface="Merriweather"/>
              <a:sym typeface="Merriweather"/>
            </a:endParaRPr>
          </a:p>
        </p:txBody>
      </p:sp>
      <p:pic>
        <p:nvPicPr>
          <p:cNvPr id="147" name="Google Shape;147;g3af221e023e_0_2723" title="correlation_matrix.jpeg"/>
          <p:cNvPicPr preferRelativeResize="0"/>
          <p:nvPr/>
        </p:nvPicPr>
        <p:blipFill>
          <a:blip r:embed="rId3">
            <a:alphaModFix/>
          </a:blip>
          <a:stretch>
            <a:fillRect/>
          </a:stretch>
        </p:blipFill>
        <p:spPr>
          <a:xfrm>
            <a:off x="152400" y="2172488"/>
            <a:ext cx="4905149" cy="384367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3af221e023e_0_2818"/>
          <p:cNvSpPr txBox="1"/>
          <p:nvPr>
            <p:ph type="title"/>
          </p:nvPr>
        </p:nvSpPr>
        <p:spPr>
          <a:xfrm>
            <a:off x="311725" y="667900"/>
            <a:ext cx="8520600" cy="8316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400"/>
              <a:buFont typeface="Calibri"/>
              <a:buNone/>
            </a:pPr>
            <a:r>
              <a:rPr b="1" lang="en-US" sz="5900"/>
              <a:t>Key Takeaways</a:t>
            </a:r>
            <a:endParaRPr b="1" sz="4300"/>
          </a:p>
        </p:txBody>
      </p:sp>
      <p:sp>
        <p:nvSpPr>
          <p:cNvPr id="153" name="Google Shape;153;g3af221e023e_0_2818"/>
          <p:cNvSpPr txBox="1"/>
          <p:nvPr>
            <p:ph idx="4294967295" type="body"/>
          </p:nvPr>
        </p:nvSpPr>
        <p:spPr>
          <a:xfrm>
            <a:off x="457200" y="1835625"/>
            <a:ext cx="8229600" cy="4290600"/>
          </a:xfrm>
          <a:prstGeom prst="rect">
            <a:avLst/>
          </a:prstGeom>
          <a:noFill/>
          <a:ln>
            <a:noFill/>
          </a:ln>
        </p:spPr>
        <p:txBody>
          <a:bodyPr anchorCtr="0" anchor="t" bIns="45700" lIns="91425" spcFirstLastPara="1" rIns="91425" wrap="square" tIns="45700">
            <a:normAutofit fontScale="77500" lnSpcReduction="20000"/>
          </a:bodyPr>
          <a:lstStyle/>
          <a:p>
            <a:pPr indent="-297180" lvl="0" marL="342900" rtl="0" algn="l">
              <a:spcBef>
                <a:spcPts val="0"/>
              </a:spcBef>
              <a:spcAft>
                <a:spcPts val="0"/>
              </a:spcAft>
              <a:buClr>
                <a:schemeClr val="dk1"/>
              </a:buClr>
              <a:buSzPct val="100000"/>
              <a:buChar char="●"/>
            </a:pPr>
            <a:r>
              <a:rPr lang="en-US" sz="3200">
                <a:solidFill>
                  <a:schemeClr val="dk1"/>
                </a:solidFill>
                <a:latin typeface="Calibri"/>
                <a:ea typeface="Calibri"/>
                <a:cs typeface="Calibri"/>
                <a:sym typeface="Calibri"/>
              </a:rPr>
              <a:t>SQL and ML together help uncover performance and engagement trends.</a:t>
            </a:r>
            <a:endParaRPr/>
          </a:p>
          <a:p>
            <a:pPr indent="-297180" lvl="0" marL="342900" rtl="0" algn="l">
              <a:spcBef>
                <a:spcPts val="640"/>
              </a:spcBef>
              <a:spcAft>
                <a:spcPts val="0"/>
              </a:spcAft>
              <a:buClr>
                <a:schemeClr val="dk1"/>
              </a:buClr>
              <a:buSzPct val="100000"/>
              <a:buChar char="●"/>
            </a:pPr>
            <a:r>
              <a:rPr lang="en-US" sz="3200">
                <a:solidFill>
                  <a:schemeClr val="dk1"/>
                </a:solidFill>
                <a:latin typeface="Calibri"/>
                <a:ea typeface="Calibri"/>
                <a:cs typeface="Calibri"/>
                <a:sym typeface="Calibri"/>
              </a:rPr>
              <a:t>Late submissions and quiz/assignment averages strongly predict academic risk.</a:t>
            </a:r>
            <a:endParaRPr/>
          </a:p>
          <a:p>
            <a:pPr indent="-297180" lvl="0" marL="342900" rtl="0" algn="l">
              <a:spcBef>
                <a:spcPts val="640"/>
              </a:spcBef>
              <a:spcAft>
                <a:spcPts val="0"/>
              </a:spcAft>
              <a:buClr>
                <a:schemeClr val="dk1"/>
              </a:buClr>
              <a:buSzPct val="100000"/>
              <a:buChar char="●"/>
            </a:pPr>
            <a:r>
              <a:rPr lang="en-US" sz="3200">
                <a:solidFill>
                  <a:schemeClr val="dk1"/>
                </a:solidFill>
                <a:latin typeface="Calibri"/>
                <a:ea typeface="Calibri"/>
                <a:cs typeface="Calibri"/>
                <a:sym typeface="Calibri"/>
              </a:rPr>
              <a:t>Visualizations make complex patterns easier to interpret and communicate.</a:t>
            </a:r>
            <a:endParaRPr/>
          </a:p>
          <a:p>
            <a:pPr indent="-297180" lvl="0" marL="342900" rtl="0" algn="l">
              <a:spcBef>
                <a:spcPts val="640"/>
              </a:spcBef>
              <a:spcAft>
                <a:spcPts val="0"/>
              </a:spcAft>
              <a:buClr>
                <a:schemeClr val="dk1"/>
              </a:buClr>
              <a:buSzPct val="100000"/>
              <a:buChar char="●"/>
            </a:pPr>
            <a:r>
              <a:rPr lang="en-US" sz="3200">
                <a:solidFill>
                  <a:schemeClr val="dk1"/>
                </a:solidFill>
                <a:latin typeface="Calibri"/>
                <a:ea typeface="Calibri"/>
                <a:cs typeface="Calibri"/>
                <a:sym typeface="Calibri"/>
              </a:rPr>
              <a:t>Features engineered through SQL create a strong foundation for modeling.</a:t>
            </a:r>
            <a:endParaRPr/>
          </a:p>
          <a:p>
            <a:pPr indent="-297180" lvl="0" marL="342900" rtl="0" algn="l">
              <a:spcBef>
                <a:spcPts val="640"/>
              </a:spcBef>
              <a:spcAft>
                <a:spcPts val="1200"/>
              </a:spcAft>
              <a:buClr>
                <a:schemeClr val="dk1"/>
              </a:buClr>
              <a:buSzPct val="100000"/>
              <a:buChar char="●"/>
            </a:pPr>
            <a:r>
              <a:rPr lang="en-US" sz="3200">
                <a:solidFill>
                  <a:schemeClr val="dk1"/>
                </a:solidFill>
                <a:latin typeface="Calibri"/>
                <a:ea typeface="Calibri"/>
                <a:cs typeface="Calibri"/>
                <a:sym typeface="Calibri"/>
              </a:rPr>
              <a:t>- Insights support early intervention and data-informed academic decisions.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af221e023e_0_2823"/>
          <p:cNvSpPr txBox="1"/>
          <p:nvPr>
            <p:ph type="title"/>
          </p:nvPr>
        </p:nvSpPr>
        <p:spPr>
          <a:xfrm>
            <a:off x="311725" y="667900"/>
            <a:ext cx="8520600" cy="8316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400"/>
              <a:buFont typeface="Calibri"/>
              <a:buNone/>
            </a:pPr>
            <a:r>
              <a:rPr b="1" lang="en-US" sz="6400"/>
              <a:t>Limitations</a:t>
            </a:r>
            <a:endParaRPr b="1" sz="4800"/>
          </a:p>
        </p:txBody>
      </p:sp>
      <p:sp>
        <p:nvSpPr>
          <p:cNvPr id="159" name="Google Shape;159;g3af221e023e_0_2823"/>
          <p:cNvSpPr txBox="1"/>
          <p:nvPr>
            <p:ph idx="4294967295" type="body"/>
          </p:nvPr>
        </p:nvSpPr>
        <p:spPr>
          <a:xfrm>
            <a:off x="457200" y="2085775"/>
            <a:ext cx="8229600" cy="4040400"/>
          </a:xfrm>
          <a:prstGeom prst="rect">
            <a:avLst/>
          </a:prstGeom>
          <a:noFill/>
          <a:ln>
            <a:noFill/>
          </a:ln>
        </p:spPr>
        <p:txBody>
          <a:bodyPr anchorCtr="0" anchor="t" bIns="45700" lIns="91425" spcFirstLastPara="1" rIns="91425" wrap="square" tIns="45700">
            <a:normAutofit fontScale="85000" lnSpcReduction="20000"/>
          </a:bodyPr>
          <a:lstStyle/>
          <a:p>
            <a:pPr indent="-312420" lvl="0" marL="342900" rtl="0" algn="l">
              <a:spcBef>
                <a:spcPts val="0"/>
              </a:spcBef>
              <a:spcAft>
                <a:spcPts val="0"/>
              </a:spcAft>
              <a:buClr>
                <a:schemeClr val="dk1"/>
              </a:buClr>
              <a:buSzPct val="100000"/>
              <a:buChar char="●"/>
            </a:pPr>
            <a:r>
              <a:rPr lang="en-US" sz="3200">
                <a:solidFill>
                  <a:schemeClr val="dk1"/>
                </a:solidFill>
                <a:latin typeface="Calibri"/>
                <a:ea typeface="Calibri"/>
                <a:cs typeface="Calibri"/>
                <a:sym typeface="Calibri"/>
              </a:rPr>
              <a:t>Dataset does not include behavioral, demographic, or LMS activity logs.</a:t>
            </a:r>
            <a:endParaRPr/>
          </a:p>
          <a:p>
            <a:pPr indent="-312420" lvl="0" marL="342900" rtl="0" algn="l">
              <a:spcBef>
                <a:spcPts val="640"/>
              </a:spcBef>
              <a:spcAft>
                <a:spcPts val="0"/>
              </a:spcAft>
              <a:buClr>
                <a:schemeClr val="dk1"/>
              </a:buClr>
              <a:buSzPct val="100000"/>
              <a:buChar char="●"/>
            </a:pPr>
            <a:r>
              <a:rPr lang="en-US" sz="3200">
                <a:solidFill>
                  <a:schemeClr val="dk1"/>
                </a:solidFill>
                <a:latin typeface="Calibri"/>
                <a:ea typeface="Calibri"/>
                <a:cs typeface="Calibri"/>
                <a:sym typeface="Calibri"/>
              </a:rPr>
              <a:t>At-risk label is defined relative to class averages rather than fixed standards.</a:t>
            </a:r>
            <a:endParaRPr/>
          </a:p>
          <a:p>
            <a:pPr indent="-312420" lvl="0" marL="342900" rtl="0" algn="l">
              <a:spcBef>
                <a:spcPts val="640"/>
              </a:spcBef>
              <a:spcAft>
                <a:spcPts val="0"/>
              </a:spcAft>
              <a:buClr>
                <a:schemeClr val="dk1"/>
              </a:buClr>
              <a:buSzPct val="100000"/>
              <a:buChar char="●"/>
            </a:pPr>
            <a:r>
              <a:rPr lang="en-US" sz="3200">
                <a:solidFill>
                  <a:schemeClr val="dk1"/>
                </a:solidFill>
                <a:latin typeface="Calibri"/>
                <a:ea typeface="Calibri"/>
                <a:cs typeface="Calibri"/>
                <a:sym typeface="Calibri"/>
              </a:rPr>
              <a:t>There is no connection to instructors in the schema.</a:t>
            </a:r>
            <a:endParaRPr/>
          </a:p>
          <a:p>
            <a:pPr indent="-312420" lvl="0" marL="342900" rtl="0" algn="l">
              <a:spcBef>
                <a:spcPts val="640"/>
              </a:spcBef>
              <a:spcAft>
                <a:spcPts val="0"/>
              </a:spcAft>
              <a:buClr>
                <a:schemeClr val="dk1"/>
              </a:buClr>
              <a:buSzPct val="100000"/>
              <a:buChar char="●"/>
            </a:pPr>
            <a:r>
              <a:rPr lang="en-US" sz="3200">
                <a:solidFill>
                  <a:schemeClr val="dk1"/>
                </a:solidFill>
                <a:latin typeface="Calibri"/>
                <a:ea typeface="Calibri"/>
                <a:cs typeface="Calibri"/>
                <a:sym typeface="Calibri"/>
              </a:rPr>
              <a:t>Feature set may not capture external factors influencing performance.</a:t>
            </a:r>
            <a:endParaRPr/>
          </a:p>
          <a:p>
            <a:pPr indent="-312420" lvl="0" marL="342900" rtl="0" algn="l">
              <a:spcBef>
                <a:spcPts val="640"/>
              </a:spcBef>
              <a:spcAft>
                <a:spcPts val="1200"/>
              </a:spcAft>
              <a:buClr>
                <a:schemeClr val="dk1"/>
              </a:buClr>
              <a:buSzPct val="100000"/>
              <a:buChar char="●"/>
            </a:pPr>
            <a:r>
              <a:rPr lang="en-US" sz="3200">
                <a:solidFill>
                  <a:schemeClr val="dk1"/>
                </a:solidFill>
                <a:latin typeface="Calibri"/>
                <a:ea typeface="Calibri"/>
                <a:cs typeface="Calibri"/>
                <a:sym typeface="Calibri"/>
              </a:rPr>
              <a:t>Predictive accuracy is constrained by available data quality and scope.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g3af221e023e_0_439"/>
          <p:cNvSpPr txBox="1"/>
          <p:nvPr>
            <p:ph idx="4294967295" type="ctrTitle"/>
          </p:nvPr>
        </p:nvSpPr>
        <p:spPr>
          <a:xfrm>
            <a:off x="311700" y="719633"/>
            <a:ext cx="8520600" cy="17100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US" sz="8922"/>
              <a:t>Any questions?</a:t>
            </a:r>
            <a:endParaRPr b="1" sz="8922"/>
          </a:p>
          <a:p>
            <a:pPr indent="0" lvl="0" marL="0" rtl="0" algn="l">
              <a:spcBef>
                <a:spcPts val="0"/>
              </a:spcBef>
              <a:spcAft>
                <a:spcPts val="0"/>
              </a:spcAft>
              <a:buNone/>
            </a:pPr>
            <a:r>
              <a:t/>
            </a:r>
            <a:endParaRPr b="1" sz="5700"/>
          </a:p>
        </p:txBody>
      </p:sp>
      <p:sp>
        <p:nvSpPr>
          <p:cNvPr id="165" name="Google Shape;165;g3af221e023e_0_439"/>
          <p:cNvSpPr txBox="1"/>
          <p:nvPr>
            <p:ph idx="4294967295" type="subTitle"/>
          </p:nvPr>
        </p:nvSpPr>
        <p:spPr>
          <a:xfrm>
            <a:off x="1648500" y="4318550"/>
            <a:ext cx="6124500" cy="1614300"/>
          </a:xfrm>
          <a:prstGeom prst="rect">
            <a:avLst/>
          </a:prstGeom>
        </p:spPr>
        <p:txBody>
          <a:bodyPr anchorCtr="0" anchor="t" bIns="91425" lIns="91425" spcFirstLastPara="1" rIns="91425" wrap="square" tIns="91425">
            <a:normAutofit fontScale="25000" lnSpcReduction="20000"/>
          </a:bodyPr>
          <a:lstStyle/>
          <a:p>
            <a:pPr indent="0" lvl="0" marL="0" rtl="0" algn="ctr">
              <a:spcBef>
                <a:spcPts val="0"/>
              </a:spcBef>
              <a:spcAft>
                <a:spcPts val="0"/>
              </a:spcAft>
              <a:buNone/>
            </a:pPr>
            <a:r>
              <a:t/>
            </a:r>
            <a:endParaRPr/>
          </a:p>
          <a:p>
            <a:pPr indent="0" lvl="0" marL="0" rtl="0" algn="ctr">
              <a:spcBef>
                <a:spcPts val="1200"/>
              </a:spcBef>
              <a:spcAft>
                <a:spcPts val="0"/>
              </a:spcAft>
              <a:buNone/>
            </a:pPr>
            <a:r>
              <a:rPr b="1" lang="en-US" sz="8700" u="sng">
                <a:solidFill>
                  <a:schemeClr val="hlink"/>
                </a:solidFill>
                <a:latin typeface="Merriweather"/>
                <a:ea typeface="Merriweather"/>
                <a:cs typeface="Merriweather"/>
                <a:sym typeface="Merriweather"/>
                <a:hlinkClick r:id="rId3"/>
              </a:rPr>
              <a:t>ohancock@bu.edu</a:t>
            </a:r>
            <a:endParaRPr b="1" sz="8700">
              <a:solidFill>
                <a:schemeClr val="dk1"/>
              </a:solidFill>
              <a:latin typeface="Merriweather"/>
              <a:ea typeface="Merriweather"/>
              <a:cs typeface="Merriweather"/>
              <a:sym typeface="Merriweather"/>
            </a:endParaRPr>
          </a:p>
          <a:p>
            <a:pPr indent="0" lvl="0" marL="0" rtl="0" algn="ctr">
              <a:spcBef>
                <a:spcPts val="1200"/>
              </a:spcBef>
              <a:spcAft>
                <a:spcPts val="0"/>
              </a:spcAft>
              <a:buNone/>
            </a:pPr>
            <a:r>
              <a:rPr b="1" lang="en-US" sz="7500" u="sng">
                <a:solidFill>
                  <a:schemeClr val="dk1"/>
                </a:solidFill>
                <a:latin typeface="Merriweather"/>
                <a:ea typeface="Merriweather"/>
                <a:cs typeface="Merriweather"/>
                <a:sym typeface="Merriweather"/>
              </a:rPr>
              <a:t>github.com/olvhnk/AD599-Final-Project</a:t>
            </a:r>
            <a:endParaRPr b="1" sz="7500" u="sng">
              <a:solidFill>
                <a:schemeClr val="dk1"/>
              </a:solidFill>
              <a:latin typeface="Merriweather"/>
              <a:ea typeface="Merriweather"/>
              <a:cs typeface="Merriweather"/>
              <a:sym typeface="Merriweather"/>
            </a:endParaRPr>
          </a:p>
          <a:p>
            <a:pPr indent="0" lvl="0" marL="0" rtl="0" algn="ctr">
              <a:spcBef>
                <a:spcPts val="1200"/>
              </a:spcBef>
              <a:spcAft>
                <a:spcPts val="0"/>
              </a:spcAft>
              <a:buNone/>
            </a:pPr>
            <a:r>
              <a:t/>
            </a:r>
            <a:endParaRPr b="1" sz="10300">
              <a:solidFill>
                <a:schemeClr val="dk1"/>
              </a:solidFill>
              <a:latin typeface="Merriweather"/>
              <a:ea typeface="Merriweather"/>
              <a:cs typeface="Merriweather"/>
              <a:sym typeface="Merriweather"/>
            </a:endParaRPr>
          </a:p>
          <a:p>
            <a:pPr indent="0" lvl="0" marL="0" rtl="0" algn="ctr">
              <a:spcBef>
                <a:spcPts val="1200"/>
              </a:spcBef>
              <a:spcAft>
                <a:spcPts val="0"/>
              </a:spcAft>
              <a:buNone/>
            </a:pPr>
            <a:r>
              <a:t/>
            </a:r>
            <a:endParaRPr b="1" sz="5100">
              <a:solidFill>
                <a:schemeClr val="dk1"/>
              </a:solidFill>
              <a:latin typeface="Merriweather"/>
              <a:ea typeface="Merriweather"/>
              <a:cs typeface="Merriweather"/>
              <a:sym typeface="Merriweather"/>
            </a:endParaRPr>
          </a:p>
          <a:p>
            <a:pPr indent="0" lvl="0" marL="0" rtl="0" algn="ctr">
              <a:spcBef>
                <a:spcPts val="1200"/>
              </a:spcBef>
              <a:spcAft>
                <a:spcPts val="1200"/>
              </a:spcAft>
              <a:buNone/>
            </a:pPr>
            <a:r>
              <a:t/>
            </a:r>
            <a:endParaRPr b="1" i="1" sz="2600">
              <a:solidFill>
                <a:schemeClr val="dk1"/>
              </a:solidFill>
            </a:endParaRPr>
          </a:p>
        </p:txBody>
      </p:sp>
      <p:sp>
        <p:nvSpPr>
          <p:cNvPr id="166" name="Google Shape;166;g3af221e023e_0_439"/>
          <p:cNvSpPr txBox="1"/>
          <p:nvPr>
            <p:ph idx="4294967295" type="subTitle"/>
          </p:nvPr>
        </p:nvSpPr>
        <p:spPr>
          <a:xfrm>
            <a:off x="1401075" y="2429625"/>
            <a:ext cx="6124500" cy="1614300"/>
          </a:xfrm>
          <a:prstGeom prst="rect">
            <a:avLst/>
          </a:prstGeom>
        </p:spPr>
        <p:txBody>
          <a:bodyPr anchorCtr="0" anchor="t" bIns="91425" lIns="91425" spcFirstLastPara="1" rIns="91425" wrap="square" tIns="91425">
            <a:normAutofit fontScale="25000" lnSpcReduction="20000"/>
          </a:bodyPr>
          <a:lstStyle/>
          <a:p>
            <a:pPr indent="0" lvl="0" marL="0" rtl="0" algn="ctr">
              <a:spcBef>
                <a:spcPts val="0"/>
              </a:spcBef>
              <a:spcAft>
                <a:spcPts val="0"/>
              </a:spcAft>
              <a:buNone/>
            </a:pPr>
            <a:r>
              <a:t/>
            </a:r>
            <a:endParaRPr/>
          </a:p>
          <a:p>
            <a:pPr indent="0" lvl="0" marL="0" rtl="0" algn="ctr">
              <a:spcBef>
                <a:spcPts val="1200"/>
              </a:spcBef>
              <a:spcAft>
                <a:spcPts val="0"/>
              </a:spcAft>
              <a:buNone/>
            </a:pPr>
            <a:r>
              <a:rPr b="1" lang="en-US" sz="21500">
                <a:solidFill>
                  <a:schemeClr val="dk1"/>
                </a:solidFill>
                <a:latin typeface="Merriweather"/>
                <a:ea typeface="Merriweather"/>
                <a:cs typeface="Merriweather"/>
                <a:sym typeface="Merriweather"/>
              </a:rPr>
              <a:t>THANK YOU! </a:t>
            </a:r>
            <a:endParaRPr b="1" sz="21500">
              <a:solidFill>
                <a:schemeClr val="dk1"/>
              </a:solidFill>
              <a:latin typeface="Merriweather"/>
              <a:ea typeface="Merriweather"/>
              <a:cs typeface="Merriweather"/>
              <a:sym typeface="Merriweather"/>
            </a:endParaRPr>
          </a:p>
          <a:p>
            <a:pPr indent="0" lvl="0" marL="0" rtl="0" algn="ctr">
              <a:spcBef>
                <a:spcPts val="1200"/>
              </a:spcBef>
              <a:spcAft>
                <a:spcPts val="0"/>
              </a:spcAft>
              <a:buNone/>
            </a:pPr>
            <a:r>
              <a:t/>
            </a:r>
            <a:endParaRPr b="1" sz="10300">
              <a:solidFill>
                <a:schemeClr val="dk1"/>
              </a:solidFill>
              <a:latin typeface="Merriweather"/>
              <a:ea typeface="Merriweather"/>
              <a:cs typeface="Merriweather"/>
              <a:sym typeface="Merriweather"/>
            </a:endParaRPr>
          </a:p>
          <a:p>
            <a:pPr indent="0" lvl="0" marL="0" rtl="0" algn="ctr">
              <a:spcBef>
                <a:spcPts val="1200"/>
              </a:spcBef>
              <a:spcAft>
                <a:spcPts val="0"/>
              </a:spcAft>
              <a:buNone/>
            </a:pPr>
            <a:r>
              <a:t/>
            </a:r>
            <a:endParaRPr b="1" sz="5100">
              <a:solidFill>
                <a:schemeClr val="dk1"/>
              </a:solidFill>
              <a:latin typeface="Merriweather"/>
              <a:ea typeface="Merriweather"/>
              <a:cs typeface="Merriweather"/>
              <a:sym typeface="Merriweather"/>
            </a:endParaRPr>
          </a:p>
          <a:p>
            <a:pPr indent="0" lvl="0" marL="0" rtl="0" algn="ctr">
              <a:spcBef>
                <a:spcPts val="1200"/>
              </a:spcBef>
              <a:spcAft>
                <a:spcPts val="1200"/>
              </a:spcAft>
              <a:buNone/>
            </a:pPr>
            <a:r>
              <a:t/>
            </a:r>
            <a:endParaRPr b="1" i="1" sz="2600">
              <a:solidFill>
                <a:schemeClr val="dk1"/>
              </a:solidFill>
            </a:endParaRPr>
          </a:p>
        </p:txBody>
      </p:sp>
      <p:pic>
        <p:nvPicPr>
          <p:cNvPr descr="happy  face  emoticon (Provided by Getty Images)" id="167" name="Google Shape;167;g3af221e023e_0_439"/>
          <p:cNvPicPr preferRelativeResize="0"/>
          <p:nvPr/>
        </p:nvPicPr>
        <p:blipFill>
          <a:blip r:embed="rId4">
            <a:alphaModFix/>
          </a:blip>
          <a:stretch>
            <a:fillRect/>
          </a:stretch>
        </p:blipFill>
        <p:spPr>
          <a:xfrm>
            <a:off x="7525575" y="5273900"/>
            <a:ext cx="1451448" cy="1451448"/>
          </a:xfrm>
          <a:prstGeom prst="rect">
            <a:avLst/>
          </a:prstGeom>
          <a:noFill/>
          <a:ln>
            <a:noFill/>
          </a:ln>
        </p:spPr>
      </p:pic>
    </p:spTree>
  </p:cSld>
  <p:clrMapOvr>
    <a:masterClrMapping/>
  </p:clrMapOvr>
  <mc:AlternateContent>
    <mc:Choice Requires="p14">
      <p:transition spd="slow" p14:dur="1200">
        <p14:flip dir="l"/>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